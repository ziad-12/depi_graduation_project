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68" r:id="rId3"/>
    <p:sldId id="269" r:id="rId5"/>
    <p:sldId id="270" r:id="rId6"/>
    <p:sldId id="271" r:id="rId7"/>
    <p:sldId id="272" r:id="rId8"/>
    <p:sldId id="273" r:id="rId9"/>
    <p:sldId id="274" r:id="rId10"/>
    <p:sldId id="275" r:id="rId11"/>
    <p:sldId id="276" r:id="rId12"/>
    <p:sldId id="277" r:id="rId13"/>
    <p:sldId id="278" r:id="rId14"/>
  </p:sldIdLst>
  <p:sldSz cx="12192000" cy="6858000"/>
  <p:notesSz cx="6858000" cy="9144000"/>
  <p:embeddedFontLst>
    <p:embeddedFont>
      <p:font typeface="Calibri" panose="020F0502020204030204"/>
      <p:regular r:id="rId18"/>
      <p:bold r:id="rId19"/>
      <p:italic r:id="rId20"/>
      <p:boldItalic r:id="rId21"/>
    </p:embeddedFont>
    <p:embeddedFont>
      <p:font typeface="Prompt" panose="0000050000000000000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7954"/>
    <a:srgbClr val="336EA8"/>
    <a:srgbClr val="0FAB7D"/>
    <a:srgbClr val="2AAF82"/>
    <a:srgbClr val="D7B119"/>
    <a:srgbClr val="D7B1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font" Target="fonts/font8.fntdata"/><Relationship Id="rId24" Type="http://schemas.openxmlformats.org/officeDocument/2006/relationships/font" Target="fonts/font7.fntdata"/><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srcRect/>
          <a:stretch>
            <a:fill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srcRect/>
          <a:stretch>
            <a:fill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1" name="Google Shape;51;p18"/>
          <p:cNvPicPr preferRelativeResize="0"/>
          <p:nvPr/>
        </p:nvPicPr>
        <p:blipFill rotWithShape="1">
          <a:blip r:embed="rId4"/>
          <a:srcRect/>
          <a:stretch>
            <a:fill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2"/>
          <a:srcRect/>
          <a:stretch>
            <a:fill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3"/>
          <a:srcRect/>
          <a:stretch>
            <a:fill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ar-EG"/>
          </a:p>
        </p:txBody>
      </p:sp>
      <p:pic>
        <p:nvPicPr>
          <p:cNvPr id="13" name="Google Shape;13;p13"/>
          <p:cNvPicPr preferRelativeResize="0"/>
          <p:nvPr/>
        </p:nvPicPr>
        <p:blipFill rotWithShape="1">
          <a:blip r:embed="rId14"/>
          <a:srcRect/>
          <a:stretch>
            <a:fill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ar-EG"/>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10/14/24</a:t>
            </a:r>
            <a:endParaRPr lang="en-US"/>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26" name="Google Shape;226;p12"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3" name="TextBox 2"/>
          <p:cNvSpPr txBox="1"/>
          <p:nvPr/>
        </p:nvSpPr>
        <p:spPr>
          <a:xfrm>
            <a:off x="286819" y="1366320"/>
            <a:ext cx="11743035" cy="2506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endParaRPr lang="en-GB" sz="4300" b="1">
              <a:solidFill>
                <a:srgbClr val="2AAF82"/>
              </a:solidFill>
              <a:latin typeface="Prompt" panose="00000500000000000000"/>
              <a:cs typeface="Prompt" panose="00000500000000000000"/>
            </a:endParaRPr>
          </a:p>
          <a:p>
            <a:pPr algn="ctr"/>
            <a:r>
              <a:rPr lang="en-GB" sz="4300" b="1">
                <a:solidFill>
                  <a:srgbClr val="2AAF82"/>
                </a:solidFill>
                <a:latin typeface="Prompt" panose="00000500000000000000"/>
                <a:cs typeface="Prompt" panose="00000500000000000000"/>
              </a:rPr>
              <a:t>Containerised URL Shortener with Monitoring</a:t>
            </a:r>
            <a:endParaRPr lang="en-US" b="1">
              <a:solidFill>
                <a:srgbClr val="2AAF82"/>
              </a:solidFill>
            </a:endParaRPr>
          </a:p>
          <a:p>
            <a:br>
              <a:rPr lang="en-US"/>
            </a:br>
            <a:endParaRPr lang="en-US"/>
          </a:p>
        </p:txBody>
      </p:sp>
      <p:sp>
        <p:nvSpPr>
          <p:cNvPr id="4" name="TextBox 3"/>
          <p:cNvSpPr txBox="1"/>
          <p:nvPr/>
        </p:nvSpPr>
        <p:spPr>
          <a:xfrm>
            <a:off x="5979576" y="3197449"/>
            <a:ext cx="148693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l"/>
            <a:r>
              <a:rPr lang="en-GB" sz="2400">
                <a:solidFill>
                  <a:srgbClr val="047954"/>
                </a:solidFill>
              </a:rPr>
              <a:t>by</a:t>
            </a:r>
            <a:endParaRPr lang="en-US" sz="2400">
              <a:solidFill>
                <a:srgbClr val="047954"/>
              </a:solidFill>
            </a:endParaRPr>
          </a:p>
        </p:txBody>
      </p:sp>
      <p:sp>
        <p:nvSpPr>
          <p:cNvPr id="2" name="TextBox 1"/>
          <p:cNvSpPr txBox="1"/>
          <p:nvPr/>
        </p:nvSpPr>
        <p:spPr>
          <a:xfrm>
            <a:off x="4605245" y="3632458"/>
            <a:ext cx="3106181" cy="2343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lnSpc>
                <a:spcPct val="150000"/>
              </a:lnSpc>
            </a:pPr>
            <a:r>
              <a:rPr lang="en-US" sz="2000" b="1" dirty="0">
                <a:solidFill>
                  <a:srgbClr val="336EA8"/>
                </a:solidFill>
              </a:rPr>
              <a:t>Mohamed Adel</a:t>
            </a:r>
            <a:endParaRPr lang="en-US" sz="2000" b="1" dirty="0">
              <a:solidFill>
                <a:srgbClr val="336EA8"/>
              </a:solidFill>
            </a:endParaRPr>
          </a:p>
          <a:p>
            <a:pPr algn="ctr">
              <a:lnSpc>
                <a:spcPct val="150000"/>
              </a:lnSpc>
            </a:pPr>
            <a:r>
              <a:rPr lang="en-US" sz="2000" b="1" dirty="0">
                <a:solidFill>
                  <a:srgbClr val="336EA8"/>
                </a:solidFill>
              </a:rPr>
              <a:t>Ziad Mahmoud</a:t>
            </a:r>
            <a:endParaRPr lang="en-US" sz="2000" b="1" dirty="0">
              <a:solidFill>
                <a:srgbClr val="336EA8"/>
              </a:solidFill>
            </a:endParaRPr>
          </a:p>
          <a:p>
            <a:pPr algn="ctr">
              <a:lnSpc>
                <a:spcPct val="150000"/>
              </a:lnSpc>
            </a:pPr>
            <a:r>
              <a:rPr lang="en-US" sz="2000" b="1" dirty="0">
                <a:solidFill>
                  <a:srgbClr val="336EA8"/>
                </a:solidFill>
              </a:rPr>
              <a:t>Ziad Ahmed</a:t>
            </a:r>
            <a:endParaRPr lang="en-US" sz="2000" b="1" dirty="0">
              <a:solidFill>
                <a:srgbClr val="336EA8"/>
              </a:solidFill>
            </a:endParaRPr>
          </a:p>
          <a:p>
            <a:pPr algn="ctr">
              <a:lnSpc>
                <a:spcPct val="150000"/>
              </a:lnSpc>
            </a:pPr>
            <a:r>
              <a:rPr lang="en-US" sz="2000" b="1" dirty="0">
                <a:solidFill>
                  <a:srgbClr val="336EA8"/>
                </a:solidFill>
              </a:rPr>
              <a:t>Mustafa Khaled</a:t>
            </a:r>
            <a:endParaRPr lang="en-US" sz="2000" b="1" dirty="0">
              <a:solidFill>
                <a:srgbClr val="336EA8"/>
              </a:solidFill>
            </a:endParaRPr>
          </a:p>
          <a:p>
            <a:pPr algn="ctr">
              <a:lnSpc>
                <a:spcPct val="150000"/>
              </a:lnSpc>
            </a:pPr>
            <a:r>
              <a:rPr lang="en-US" sz="2000" b="1" dirty="0">
                <a:solidFill>
                  <a:srgbClr val="336EA8"/>
                </a:solidFill>
              </a:rPr>
              <a:t>Mohamed Ayman</a:t>
            </a:r>
            <a:endParaRPr lang="en-GB" sz="2000" b="1" dirty="0">
              <a:solidFill>
                <a:srgbClr val="336EA8"/>
              </a:solidFill>
            </a:endParaRPr>
          </a:p>
        </p:txBody>
      </p:sp>
      <p:pic>
        <p:nvPicPr>
          <p:cNvPr id="5" name="Picture 4" descr="eyouth Logo-20"/>
          <p:cNvPicPr>
            <a:picLocks noChangeAspect="1"/>
          </p:cNvPicPr>
          <p:nvPr/>
        </p:nvPicPr>
        <p:blipFill>
          <a:blip r:embed="rId2"/>
          <a:stretch>
            <a:fillRect/>
          </a:stretch>
        </p:blipFill>
        <p:spPr>
          <a:xfrm>
            <a:off x="4030980" y="952500"/>
            <a:ext cx="4130040" cy="10731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10/14/24</a:t>
            </a:r>
            <a:endParaRPr dirty="0"/>
          </a:p>
        </p:txBody>
      </p:sp>
      <p:sp>
        <p:nvSpPr>
          <p:cNvPr id="224" name="Google Shape;224;p1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26" name="Google Shape;226;p12"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3" name="TextBox 2"/>
          <p:cNvSpPr txBox="1"/>
          <p:nvPr/>
        </p:nvSpPr>
        <p:spPr>
          <a:xfrm>
            <a:off x="1431178" y="636789"/>
            <a:ext cx="261963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3200" b="1" dirty="0">
                <a:solidFill>
                  <a:srgbClr val="336EA8"/>
                </a:solidFill>
              </a:rPr>
              <a:t>Problem</a:t>
            </a:r>
            <a:endParaRPr lang="en-US" sz="3200" b="1" dirty="0">
              <a:solidFill>
                <a:srgbClr val="336EA8"/>
              </a:solidFill>
            </a:endParaRPr>
          </a:p>
        </p:txBody>
      </p:sp>
      <p:sp>
        <p:nvSpPr>
          <p:cNvPr id="4" name="TextBox 3"/>
          <p:cNvSpPr txBox="1"/>
          <p:nvPr/>
        </p:nvSpPr>
        <p:spPr>
          <a:xfrm>
            <a:off x="1436685" y="1513915"/>
            <a:ext cx="1003368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dirty="0">
                <a:solidFill>
                  <a:srgbClr val="2AAF82"/>
                </a:solidFill>
              </a:rPr>
              <a:t>Users often need to share long, complex URLs, which are difficult to manage, remember, or include in social media posts. There is also no easy way to track how many times a link is used.</a:t>
            </a:r>
            <a:endParaRPr lang="en-US" sz="2000" dirty="0">
              <a:solidFill>
                <a:srgbClr val="2AAF82"/>
              </a:solidFill>
            </a:endParaRPr>
          </a:p>
        </p:txBody>
      </p:sp>
      <p:sp>
        <p:nvSpPr>
          <p:cNvPr id="5" name="TextBox 4"/>
          <p:cNvSpPr txBox="1"/>
          <p:nvPr/>
        </p:nvSpPr>
        <p:spPr>
          <a:xfrm>
            <a:off x="1441622" y="2646406"/>
            <a:ext cx="4582295"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200" b="1" dirty="0">
                <a:solidFill>
                  <a:srgbClr val="336EA8"/>
                </a:solidFill>
              </a:rPr>
              <a:t>Proposed Solution</a:t>
            </a:r>
            <a:endParaRPr lang="en-US" sz="3200" b="1" dirty="0">
              <a:solidFill>
                <a:srgbClr val="336EA8"/>
              </a:solidFill>
            </a:endParaRPr>
          </a:p>
          <a:p>
            <a:endParaRPr lang="en-US" sz="3200" dirty="0"/>
          </a:p>
          <a:p>
            <a:pPr algn="ctr"/>
            <a:endParaRPr lang="en-GB" sz="3200" dirty="0"/>
          </a:p>
        </p:txBody>
      </p:sp>
      <p:sp>
        <p:nvSpPr>
          <p:cNvPr id="6" name="TextBox 5"/>
          <p:cNvSpPr txBox="1"/>
          <p:nvPr/>
        </p:nvSpPr>
        <p:spPr>
          <a:xfrm>
            <a:off x="1440618" y="3323590"/>
            <a:ext cx="1003368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dirty="0">
                <a:solidFill>
                  <a:srgbClr val="0FAB7D"/>
                </a:solidFill>
              </a:rPr>
              <a:t>We built a </a:t>
            </a:r>
            <a:r>
              <a:rPr lang="en-GB" b="1" dirty="0">
                <a:solidFill>
                  <a:srgbClr val="0FAB7D"/>
                </a:solidFill>
              </a:rPr>
              <a:t>URL </a:t>
            </a:r>
            <a:r>
              <a:rPr lang="en-GB" b="1" dirty="0" err="1">
                <a:solidFill>
                  <a:srgbClr val="0FAB7D"/>
                </a:solidFill>
              </a:rPr>
              <a:t>shortener</a:t>
            </a:r>
            <a:r>
              <a:rPr lang="en-GB" b="1" dirty="0">
                <a:solidFill>
                  <a:srgbClr val="0FAB7D"/>
                </a:solidFill>
              </a:rPr>
              <a:t> web service</a:t>
            </a:r>
            <a:r>
              <a:rPr lang="en-GB" dirty="0">
                <a:solidFill>
                  <a:srgbClr val="0FAB7D"/>
                </a:solidFill>
              </a:rPr>
              <a:t> that takes any long URL and generates a shorter, cleaner link.</a:t>
            </a:r>
            <a:br>
              <a:rPr lang="en-GB" dirty="0">
                <a:solidFill>
                  <a:srgbClr val="0FAB7D"/>
                </a:solidFill>
              </a:rPr>
            </a:br>
            <a:r>
              <a:rPr lang="en-GB" dirty="0">
                <a:solidFill>
                  <a:srgbClr val="0FAB7D"/>
                </a:solidFill>
              </a:rPr>
              <a:t> The system is fully containerized using </a:t>
            </a:r>
            <a:r>
              <a:rPr lang="en-GB" dirty="0" err="1">
                <a:solidFill>
                  <a:srgbClr val="0FAB7D"/>
                </a:solidFill>
              </a:rPr>
              <a:t>Docker</a:t>
            </a:r>
            <a:r>
              <a:rPr lang="en-GB" dirty="0">
                <a:solidFill>
                  <a:srgbClr val="0FAB7D"/>
                </a:solidFill>
              </a:rPr>
              <a:t> and includes monitoring to track link usage and the health of the service.</a:t>
            </a:r>
            <a:endParaRPr lang="en-US" dirty="0">
              <a:solidFill>
                <a:srgbClr val="0FAB7D"/>
              </a:solidFill>
            </a:endParaRPr>
          </a:p>
        </p:txBody>
      </p:sp>
      <p:sp>
        <p:nvSpPr>
          <p:cNvPr id="7" name="TextBox 6"/>
          <p:cNvSpPr txBox="1"/>
          <p:nvPr/>
        </p:nvSpPr>
        <p:spPr>
          <a:xfrm>
            <a:off x="1441262" y="4213305"/>
            <a:ext cx="356698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1600" b="1" dirty="0">
                <a:solidFill>
                  <a:srgbClr val="336EA8"/>
                </a:solidFill>
              </a:rPr>
              <a:t>Unique Value Proposition</a:t>
            </a:r>
            <a:endParaRPr lang="en-US" sz="1600" dirty="0">
              <a:solidFill>
                <a:srgbClr val="336EA8"/>
              </a:solidFill>
            </a:endParaRPr>
          </a:p>
          <a:p>
            <a:pPr marL="285750" indent="-285750">
              <a:buChar char="•"/>
            </a:pPr>
            <a:endParaRPr lang="en-US" dirty="0"/>
          </a:p>
          <a:p>
            <a:pPr algn="l"/>
            <a:endParaRPr lang="en-GB" dirty="0"/>
          </a:p>
        </p:txBody>
      </p:sp>
      <p:sp>
        <p:nvSpPr>
          <p:cNvPr id="8" name="TextBox 7"/>
          <p:cNvSpPr txBox="1"/>
          <p:nvPr/>
        </p:nvSpPr>
        <p:spPr>
          <a:xfrm>
            <a:off x="1431178" y="4602098"/>
            <a:ext cx="993071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85750" indent="-285750">
              <a:buChar char="•"/>
            </a:pPr>
            <a:r>
              <a:rPr lang="en-GB" dirty="0">
                <a:solidFill>
                  <a:srgbClr val="2AAF82"/>
                </a:solidFill>
              </a:rPr>
              <a:t>Lightweight and easy to deploy thanks to </a:t>
            </a:r>
            <a:r>
              <a:rPr lang="en-GB" dirty="0" err="1">
                <a:solidFill>
                  <a:srgbClr val="2AAF82"/>
                </a:solidFill>
              </a:rPr>
              <a:t>Docker</a:t>
            </a:r>
            <a:r>
              <a:rPr lang="en-GB" dirty="0">
                <a:solidFill>
                  <a:srgbClr val="2AAF82"/>
                </a:solidFill>
              </a:rPr>
              <a:t> containers.</a:t>
            </a:r>
            <a:endParaRPr lang="en-US" dirty="0">
              <a:solidFill>
                <a:srgbClr val="2AAF82"/>
              </a:solidFill>
            </a:endParaRPr>
          </a:p>
          <a:p>
            <a:pPr marL="285750" indent="-285750">
              <a:buChar char="•"/>
            </a:pPr>
            <a:r>
              <a:rPr lang="en-GB" dirty="0">
                <a:solidFill>
                  <a:srgbClr val="2AAF82"/>
                </a:solidFill>
              </a:rPr>
              <a:t>Includes built-in monitoring to check performance and link activity.</a:t>
            </a:r>
            <a:endParaRPr lang="en-GB" dirty="0">
              <a:solidFill>
                <a:srgbClr val="2AAF82"/>
              </a:solidFill>
            </a:endParaRPr>
          </a:p>
          <a:p>
            <a:pPr marL="285750" indent="-285750">
              <a:buChar char="•"/>
            </a:pPr>
            <a:r>
              <a:rPr lang="en-GB" dirty="0">
                <a:solidFill>
                  <a:srgbClr val="2AAF82"/>
                </a:solidFill>
              </a:rPr>
              <a:t>Simple interface and clean API for fast integration into other apps.</a:t>
            </a:r>
            <a:endParaRPr lang="en-GB" dirty="0">
              <a:solidFill>
                <a:srgbClr val="2AAF82"/>
              </a:solidFill>
            </a:endParaRPr>
          </a:p>
          <a:p>
            <a:pPr marL="285750" indent="-285750">
              <a:buChar char="•"/>
            </a:pPr>
            <a:r>
              <a:rPr lang="en-GB" dirty="0">
                <a:solidFill>
                  <a:srgbClr val="2AAF82"/>
                </a:solidFill>
              </a:rPr>
              <a:t>Designed by our team as a learning-oriented, scalable solution.</a:t>
            </a:r>
            <a:endParaRPr lang="en-GB" dirty="0">
              <a:solidFill>
                <a:srgbClr val="2AAF82"/>
              </a:solidFill>
            </a:endParaRPr>
          </a:p>
          <a:p>
            <a:pPr algn="l"/>
            <a:endParaRPr lang="en-GB" dirty="0">
              <a:solidFill>
                <a:srgbClr val="2AAF8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6236043" y="1615388"/>
            <a:ext cx="5447443" cy="4736499"/>
          </a:xfrm>
          <a:prstGeom prst="rect">
            <a:avLst/>
          </a:prstGeom>
          <a:noFill/>
          <a:ln>
            <a:noFill/>
          </a:ln>
        </p:spPr>
        <p:txBody>
          <a:bodyPr spcFirstLastPara="1" wrap="square" lIns="91425" tIns="45700" rIns="91425" bIns="45700" anchor="ctr" anchorCtr="0">
            <a:noAutofit/>
          </a:bodyPr>
          <a:lstStyle/>
          <a:p>
            <a:pPr marL="285750" indent="-285750">
              <a:buFont typeface="Arial" panose="020B0604020202020204"/>
              <a:buChar char="•"/>
            </a:pPr>
            <a:r>
              <a:rPr lang="en-US" sz="2400" dirty="0">
                <a:solidFill>
                  <a:srgbClr val="2AAF82"/>
                </a:solidFill>
              </a:rPr>
              <a:t>The user starts at the homepage where they can paste any long URL.</a:t>
            </a:r>
            <a:endParaRPr lang="en-US" dirty="0">
              <a:solidFill>
                <a:srgbClr val="2AAF82"/>
              </a:solidFill>
            </a:endParaRPr>
          </a:p>
          <a:p>
            <a:pPr marL="285750" indent="-285750">
              <a:buFont typeface="Arial" panose="020B0604020202020204"/>
              <a:buChar char="•"/>
            </a:pPr>
            <a:r>
              <a:rPr lang="en-US" sz="2400" dirty="0">
                <a:solidFill>
                  <a:srgbClr val="2AAF82"/>
                </a:solidFill>
              </a:rPr>
              <a:t>With one click, the system generates a short, clean link.</a:t>
            </a:r>
            <a:endParaRPr lang="en-US" sz="2400" dirty="0">
              <a:solidFill>
                <a:srgbClr val="2AAF82"/>
              </a:solidFill>
            </a:endParaRPr>
          </a:p>
          <a:p>
            <a:pPr marL="285750" indent="-285750">
              <a:buFont typeface="Arial" panose="020B0604020202020204"/>
              <a:buChar char="•"/>
            </a:pPr>
            <a:r>
              <a:rPr lang="en-US" sz="2400" dirty="0">
                <a:solidFill>
                  <a:srgbClr val="2AAF82"/>
                </a:solidFill>
              </a:rPr>
              <a:t>The user copies and shares this link anywhere.</a:t>
            </a:r>
            <a:endParaRPr lang="en-US" sz="2400" dirty="0">
              <a:solidFill>
                <a:srgbClr val="2AAF82"/>
              </a:solidFill>
            </a:endParaRPr>
          </a:p>
          <a:p>
            <a:pPr marL="285750" indent="-285750">
              <a:buFont typeface="Arial" panose="020B0604020202020204"/>
              <a:buChar char="•"/>
            </a:pPr>
            <a:r>
              <a:rPr lang="en-US" sz="2400" dirty="0">
                <a:solidFill>
                  <a:srgbClr val="2AAF82"/>
                </a:solidFill>
              </a:rPr>
              <a:t>Each visit to the short link is recorded, and the monitoring dashboard shows basic usage statistics and system health.</a:t>
            </a:r>
            <a:endParaRPr lang="en-US" sz="2400" dirty="0">
              <a:solidFill>
                <a:srgbClr val="2AAF82"/>
              </a:solidFill>
            </a:endParaRPr>
          </a:p>
          <a:p>
            <a:pPr>
              <a:buSzPts val="4400"/>
            </a:pPr>
            <a:endParaRPr lang="en-US" sz="2400" dirty="0">
              <a:solidFill>
                <a:srgbClr val="2AAF82"/>
              </a:solidFill>
            </a:endParaRPr>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10/14/24</a:t>
            </a:r>
            <a:endParaRPr lang="en-US"/>
          </a:p>
        </p:txBody>
      </p:sp>
      <p:sp>
        <p:nvSpPr>
          <p:cNvPr id="172" name="Google Shape;172;p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dirty="0"/>
          </a:p>
        </p:txBody>
      </p:sp>
      <p:pic>
        <p:nvPicPr>
          <p:cNvPr id="175" name="Google Shape;175;p7" title="download.png"/>
          <p:cNvPicPr preferRelativeResize="0"/>
          <p:nvPr/>
        </p:nvPicPr>
        <p:blipFill>
          <a:blip r:embed="rId1"/>
          <a:stretch>
            <a:fillRect/>
          </a:stretch>
        </p:blipFill>
        <p:spPr>
          <a:xfrm>
            <a:off x="9190825" y="6356350"/>
            <a:ext cx="903191" cy="365125"/>
          </a:xfrm>
          <a:prstGeom prst="rect">
            <a:avLst/>
          </a:prstGeom>
          <a:noFill/>
          <a:ln>
            <a:noFill/>
          </a:ln>
        </p:spPr>
      </p:pic>
      <p:pic>
        <p:nvPicPr>
          <p:cNvPr id="2" name="Picture 1" descr="A blue box with white text&#10;&#10;AI-generated content may be incorrect."/>
          <p:cNvPicPr>
            <a:picLocks noChangeAspect="1"/>
          </p:cNvPicPr>
          <p:nvPr/>
        </p:nvPicPr>
        <p:blipFill>
          <a:blip r:embed="rId2"/>
          <a:stretch>
            <a:fillRect/>
          </a:stretch>
        </p:blipFill>
        <p:spPr>
          <a:xfrm>
            <a:off x="659028" y="2507476"/>
            <a:ext cx="4983893" cy="2965454"/>
          </a:xfrm>
          <a:prstGeom prst="rect">
            <a:avLst/>
          </a:prstGeom>
        </p:spPr>
      </p:pic>
      <p:sp>
        <p:nvSpPr>
          <p:cNvPr id="3" name="TextBox 2"/>
          <p:cNvSpPr txBox="1"/>
          <p:nvPr/>
        </p:nvSpPr>
        <p:spPr>
          <a:xfrm>
            <a:off x="659027" y="1616676"/>
            <a:ext cx="609600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200" b="1" baseline="0" dirty="0">
                <a:solidFill>
                  <a:srgbClr val="336EA8"/>
                </a:solidFill>
                <a:latin typeface="Calibri" panose="020F0502020204030204"/>
              </a:rPr>
              <a:t>User Journey Overview</a:t>
            </a:r>
            <a:r>
              <a:rPr sz="3200" b="1" dirty="0">
                <a:solidFill>
                  <a:srgbClr val="336EA8"/>
                </a:solidFill>
                <a:latin typeface="Calibri" panose="020F0502020204030204"/>
                <a:ea typeface="Calibri" panose="020F0502020204030204"/>
                <a:cs typeface="Calibri" panose="020F0502020204030204"/>
              </a:rPr>
              <a:t>​</a:t>
            </a:r>
            <a:br>
              <a:rPr sz="3200" b="1" dirty="0">
                <a:solidFill>
                  <a:srgbClr val="336EA8"/>
                </a:solidFill>
                <a:latin typeface="Calibri" panose="020F0502020204030204"/>
                <a:ea typeface="Calibri" panose="020F0502020204030204"/>
                <a:cs typeface="Calibri" panose="020F0502020204030204"/>
              </a:rPr>
            </a:br>
            <a:r>
              <a:rPr sz="3200" b="1" dirty="0">
                <a:solidFill>
                  <a:srgbClr val="336EA8"/>
                </a:solidFill>
                <a:latin typeface="Calibri" panose="020F0502020204030204"/>
                <a:ea typeface="Calibri" panose="020F0502020204030204"/>
                <a:cs typeface="Calibri" panose="020F0502020204030204"/>
              </a:rPr>
              <a:t>​</a:t>
            </a:r>
            <a:endParaRPr lang="en-GB" sz="3200" b="1" dirty="0">
              <a:solidFill>
                <a:srgbClr val="336EA8"/>
              </a:solidFill>
            </a:endParaRPr>
          </a:p>
          <a:p>
            <a:pPr algn="ct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10/14/24</a:t>
            </a:r>
            <a:endParaRPr lang="en-US"/>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65" name="Google Shape;165;p6"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3" name="TextBox 2"/>
          <p:cNvSpPr txBox="1"/>
          <p:nvPr/>
        </p:nvSpPr>
        <p:spPr>
          <a:xfrm>
            <a:off x="3995351" y="885567"/>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600" b="1">
                <a:solidFill>
                  <a:srgbClr val="336EA8"/>
                </a:solidFill>
                <a:latin typeface="Calibri" panose="020F0502020204030204"/>
                <a:ea typeface="Calibri" panose="020F0502020204030204"/>
                <a:cs typeface="Calibri" panose="020F0502020204030204"/>
              </a:rPr>
              <a:t>End Users + Features</a:t>
            </a:r>
            <a:endParaRPr lang="en-US" sz="3600">
              <a:latin typeface="Calibri" panose="020F0502020204030204"/>
              <a:ea typeface="Calibri" panose="020F0502020204030204"/>
              <a:cs typeface="Calibri" panose="020F0502020204030204"/>
            </a:endParaRPr>
          </a:p>
          <a:p>
            <a:pPr algn="ctr"/>
            <a:endParaRPr lang="en-GB"/>
          </a:p>
        </p:txBody>
      </p:sp>
      <p:grpSp>
        <p:nvGrpSpPr>
          <p:cNvPr id="47" name="Group 46"/>
          <p:cNvGrpSpPr/>
          <p:nvPr/>
        </p:nvGrpSpPr>
        <p:grpSpPr>
          <a:xfrm>
            <a:off x="982769" y="1711301"/>
            <a:ext cx="4708714" cy="1959775"/>
            <a:chOff x="982769" y="1711301"/>
            <a:chExt cx="4708714" cy="1959775"/>
          </a:xfrm>
        </p:grpSpPr>
        <p:grpSp>
          <p:nvGrpSpPr>
            <p:cNvPr id="27" name="Group 26"/>
            <p:cNvGrpSpPr/>
            <p:nvPr/>
          </p:nvGrpSpPr>
          <p:grpSpPr>
            <a:xfrm>
              <a:off x="982769" y="1711301"/>
              <a:ext cx="4706216" cy="1959775"/>
              <a:chOff x="695639" y="1910083"/>
              <a:chExt cx="4706216" cy="1959775"/>
            </a:xfrm>
          </p:grpSpPr>
          <p:sp>
            <p:nvSpPr>
              <p:cNvPr id="25" name="Rectangle: Rounded Corners 24"/>
              <p:cNvSpPr/>
              <p:nvPr/>
            </p:nvSpPr>
            <p:spPr>
              <a:xfrm>
                <a:off x="695639" y="1910083"/>
                <a:ext cx="4706216" cy="19597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sp>
            <p:nvSpPr>
              <p:cNvPr id="26" name="Rectangle: Rounded Corners 25"/>
              <p:cNvSpPr/>
              <p:nvPr/>
            </p:nvSpPr>
            <p:spPr>
              <a:xfrm>
                <a:off x="701080" y="1915587"/>
                <a:ext cx="226370" cy="1954271"/>
              </a:xfrm>
              <a:prstGeom prst="roundRect">
                <a:avLst/>
              </a:prstGeom>
              <a:solidFill>
                <a:srgbClr val="2AA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grpSp>
        <p:sp>
          <p:nvSpPr>
            <p:cNvPr id="40" name="TextBox 39"/>
            <p:cNvSpPr txBox="1"/>
            <p:nvPr/>
          </p:nvSpPr>
          <p:spPr>
            <a:xfrm>
              <a:off x="1225827" y="1717262"/>
              <a:ext cx="429591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800" b="1">
                  <a:solidFill>
                    <a:srgbClr val="D7B118"/>
                  </a:solidFill>
                </a:rPr>
                <a:t>Primary</a:t>
              </a:r>
              <a:r>
                <a:rPr lang="en-US" b="1">
                  <a:solidFill>
                    <a:srgbClr val="D7B118"/>
                  </a:solidFill>
                </a:rPr>
                <a:t> Users</a:t>
              </a:r>
              <a:endParaRPr lang="en-US" b="1">
                <a:solidFill>
                  <a:srgbClr val="D7B118"/>
                </a:solidFill>
              </a:endParaRPr>
            </a:p>
            <a:p>
              <a:pPr marL="228600" indent="-228600">
                <a:buChar char="•"/>
              </a:pPr>
              <a:endParaRPr lang="en-US"/>
            </a:p>
            <a:p>
              <a:pPr algn="ctr"/>
              <a:endParaRPr lang="en-GB"/>
            </a:p>
          </p:txBody>
        </p:sp>
        <p:sp>
          <p:nvSpPr>
            <p:cNvPr id="44" name="TextBox 43"/>
            <p:cNvSpPr txBox="1"/>
            <p:nvPr/>
          </p:nvSpPr>
          <p:spPr>
            <a:xfrm>
              <a:off x="1645153" y="2111561"/>
              <a:ext cx="404633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Individuals</a:t>
              </a:r>
              <a:endParaRPr lang="en-US">
                <a:solidFill>
                  <a:schemeClr val="bg1"/>
                </a:solidFill>
              </a:endParaRPr>
            </a:p>
            <a:p>
              <a:pPr marL="285750" indent="-285750">
                <a:buChar char="•"/>
              </a:pPr>
              <a:endParaRPr lang="en-US"/>
            </a:p>
            <a:p>
              <a:endParaRPr lang="en-GB" sz="2000">
                <a:solidFill>
                  <a:srgbClr val="D7B118"/>
                </a:solidFill>
              </a:endParaRPr>
            </a:p>
          </p:txBody>
        </p:sp>
        <p:sp>
          <p:nvSpPr>
            <p:cNvPr id="45" name="TextBox 44"/>
            <p:cNvSpPr txBox="1"/>
            <p:nvPr/>
          </p:nvSpPr>
          <p:spPr>
            <a:xfrm>
              <a:off x="1636768" y="2580791"/>
              <a:ext cx="297511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Small businesses</a:t>
              </a:r>
              <a:endParaRPr lang="en-US" sz="2000">
                <a:solidFill>
                  <a:schemeClr val="bg1"/>
                </a:solidFill>
              </a:endParaRPr>
            </a:p>
            <a:p>
              <a:pPr marL="285750" indent="-285750">
                <a:buChar char="•"/>
              </a:pPr>
              <a:endParaRPr lang="en-US"/>
            </a:p>
            <a:p>
              <a:pPr marL="285750" indent="-285750">
                <a:buFont typeface="Arial" panose="020B0604020202020204"/>
                <a:buChar char="•"/>
              </a:pPr>
              <a:endParaRPr lang="en-GB" sz="2000">
                <a:solidFill>
                  <a:srgbClr val="D7B118"/>
                </a:solidFill>
              </a:endParaRPr>
            </a:p>
          </p:txBody>
        </p:sp>
        <p:sp>
          <p:nvSpPr>
            <p:cNvPr id="46" name="TextBox 45"/>
            <p:cNvSpPr txBox="1"/>
            <p:nvPr/>
          </p:nvSpPr>
          <p:spPr>
            <a:xfrm>
              <a:off x="1645053" y="3052790"/>
              <a:ext cx="297511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Developers</a:t>
              </a:r>
              <a:endParaRPr lang="en-US" sz="2000">
                <a:solidFill>
                  <a:schemeClr val="bg1"/>
                </a:solidFill>
              </a:endParaRPr>
            </a:p>
            <a:p>
              <a:pPr algn="l"/>
              <a:endParaRPr lang="en-GB"/>
            </a:p>
          </p:txBody>
        </p:sp>
      </p:grpSp>
      <p:grpSp>
        <p:nvGrpSpPr>
          <p:cNvPr id="48" name="Group 47"/>
          <p:cNvGrpSpPr/>
          <p:nvPr/>
        </p:nvGrpSpPr>
        <p:grpSpPr>
          <a:xfrm>
            <a:off x="6261552" y="1711301"/>
            <a:ext cx="4706216" cy="2581083"/>
            <a:chOff x="982769" y="1711301"/>
            <a:chExt cx="4706216" cy="2581083"/>
          </a:xfrm>
        </p:grpSpPr>
        <p:grpSp>
          <p:nvGrpSpPr>
            <p:cNvPr id="49" name="Group 48"/>
            <p:cNvGrpSpPr/>
            <p:nvPr/>
          </p:nvGrpSpPr>
          <p:grpSpPr>
            <a:xfrm>
              <a:off x="982769" y="1711301"/>
              <a:ext cx="4706216" cy="1959775"/>
              <a:chOff x="695639" y="1910083"/>
              <a:chExt cx="4706216" cy="1959775"/>
            </a:xfrm>
          </p:grpSpPr>
          <p:sp>
            <p:nvSpPr>
              <p:cNvPr id="54" name="Rectangle: Rounded Corners 53"/>
              <p:cNvSpPr/>
              <p:nvPr/>
            </p:nvSpPr>
            <p:spPr>
              <a:xfrm>
                <a:off x="695639" y="1910083"/>
                <a:ext cx="4706216" cy="19597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sp>
            <p:nvSpPr>
              <p:cNvPr id="55" name="Rectangle: Rounded Corners 54"/>
              <p:cNvSpPr/>
              <p:nvPr/>
            </p:nvSpPr>
            <p:spPr>
              <a:xfrm>
                <a:off x="701080" y="1915587"/>
                <a:ext cx="226370" cy="1954271"/>
              </a:xfrm>
              <a:prstGeom prst="roundRect">
                <a:avLst/>
              </a:prstGeom>
              <a:solidFill>
                <a:srgbClr val="2AA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grpSp>
        <p:sp>
          <p:nvSpPr>
            <p:cNvPr id="50" name="TextBox 49"/>
            <p:cNvSpPr txBox="1"/>
            <p:nvPr/>
          </p:nvSpPr>
          <p:spPr>
            <a:xfrm>
              <a:off x="1225827" y="1717262"/>
              <a:ext cx="4295912"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800" b="1">
                  <a:solidFill>
                    <a:srgbClr val="D7B118"/>
                  </a:solidFill>
                </a:rPr>
                <a:t>How It Helps</a:t>
              </a:r>
              <a:endParaRPr lang="en-US" sz="1800" b="1">
                <a:solidFill>
                  <a:srgbClr val="D7B118"/>
                </a:solidFill>
              </a:endParaRPr>
            </a:p>
            <a:p>
              <a:pPr marL="285750" indent="-285750">
                <a:buChar char="•"/>
              </a:pPr>
              <a:endParaRPr lang="en-US"/>
            </a:p>
            <a:p>
              <a:endParaRPr lang="en-US" b="1"/>
            </a:p>
            <a:p>
              <a:pPr marL="285750" indent="-285750">
                <a:buFont typeface="Arial" panose="020B0604020202020204"/>
                <a:buChar char="•"/>
              </a:pPr>
              <a:endParaRPr lang="en-US"/>
            </a:p>
            <a:p>
              <a:endParaRPr lang="en-US" b="1">
                <a:solidFill>
                  <a:srgbClr val="D7B118"/>
                </a:solidFill>
              </a:endParaRPr>
            </a:p>
            <a:p>
              <a:pPr marL="228600" indent="-228600">
                <a:buChar char="•"/>
              </a:pPr>
              <a:endParaRPr lang="en-US"/>
            </a:p>
            <a:p>
              <a:pPr algn="ctr"/>
              <a:endParaRPr lang="en-GB"/>
            </a:p>
          </p:txBody>
        </p:sp>
        <p:sp>
          <p:nvSpPr>
            <p:cNvPr id="51" name="TextBox 50"/>
            <p:cNvSpPr txBox="1"/>
            <p:nvPr/>
          </p:nvSpPr>
          <p:spPr>
            <a:xfrm>
              <a:off x="1645153" y="2111561"/>
              <a:ext cx="38144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Individuals: Clean, shareable links</a:t>
              </a:r>
              <a:endParaRPr lang="en-US" sz="2000">
                <a:solidFill>
                  <a:schemeClr val="bg1"/>
                </a:solidFill>
              </a:endParaRPr>
            </a:p>
            <a:p>
              <a:pPr marL="285750" indent="-285750">
                <a:buChar char="•"/>
              </a:pPr>
              <a:endParaRPr lang="en-US"/>
            </a:p>
            <a:p>
              <a:endParaRPr lang="en-GB" sz="2000">
                <a:solidFill>
                  <a:schemeClr val="bg1"/>
                </a:solidFill>
              </a:endParaRPr>
            </a:p>
            <a:p>
              <a:pPr marL="285750" indent="-285750">
                <a:buChar char="•"/>
              </a:pPr>
              <a:endParaRPr lang="en-US"/>
            </a:p>
            <a:p>
              <a:endParaRPr lang="en-GB" sz="2000">
                <a:solidFill>
                  <a:srgbClr val="D7B118"/>
                </a:solidFill>
              </a:endParaRPr>
            </a:p>
          </p:txBody>
        </p:sp>
        <p:sp>
          <p:nvSpPr>
            <p:cNvPr id="52" name="TextBox 51"/>
            <p:cNvSpPr txBox="1"/>
            <p:nvPr/>
          </p:nvSpPr>
          <p:spPr>
            <a:xfrm>
              <a:off x="1625725" y="2845834"/>
              <a:ext cx="4035285"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Businesses: Track engagement</a:t>
              </a:r>
              <a:endParaRPr lang="en-US" sz="2000">
                <a:solidFill>
                  <a:schemeClr val="bg1"/>
                </a:solidFill>
              </a:endParaRPr>
            </a:p>
            <a:p>
              <a:pPr marL="285750" indent="-285750">
                <a:buChar char="•"/>
              </a:pPr>
              <a:endParaRPr lang="en-US"/>
            </a:p>
            <a:p>
              <a:endParaRPr lang="en-GB" sz="2000">
                <a:solidFill>
                  <a:schemeClr val="bg1"/>
                </a:solidFill>
              </a:endParaRPr>
            </a:p>
            <a:p>
              <a:pPr marL="285750" indent="-285750">
                <a:buChar char="•"/>
              </a:pPr>
              <a:endParaRPr lang="en-US"/>
            </a:p>
            <a:p>
              <a:pPr marL="285750" indent="-285750">
                <a:buFont typeface="Arial" panose="020B0604020202020204"/>
                <a:buChar char="•"/>
              </a:pPr>
              <a:endParaRPr lang="en-GB" sz="2000">
                <a:solidFill>
                  <a:srgbClr val="D7B118"/>
                </a:solidFill>
              </a:endParaRPr>
            </a:p>
          </p:txBody>
        </p:sp>
        <p:sp>
          <p:nvSpPr>
            <p:cNvPr id="53" name="TextBox 52"/>
            <p:cNvSpPr txBox="1"/>
            <p:nvPr/>
          </p:nvSpPr>
          <p:spPr>
            <a:xfrm>
              <a:off x="1645053" y="3052790"/>
              <a:ext cx="297511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endParaRPr lang="en-GB"/>
            </a:p>
          </p:txBody>
        </p:sp>
      </p:grpSp>
      <p:grpSp>
        <p:nvGrpSpPr>
          <p:cNvPr id="56" name="Group 55"/>
          <p:cNvGrpSpPr/>
          <p:nvPr/>
        </p:nvGrpSpPr>
        <p:grpSpPr>
          <a:xfrm>
            <a:off x="3743639" y="4019388"/>
            <a:ext cx="4708714" cy="2839260"/>
            <a:chOff x="982769" y="1711301"/>
            <a:chExt cx="4708714" cy="2839260"/>
          </a:xfrm>
        </p:grpSpPr>
        <p:grpSp>
          <p:nvGrpSpPr>
            <p:cNvPr id="57" name="Group 56"/>
            <p:cNvGrpSpPr/>
            <p:nvPr/>
          </p:nvGrpSpPr>
          <p:grpSpPr>
            <a:xfrm>
              <a:off x="982769" y="1711301"/>
              <a:ext cx="4706216" cy="1959775"/>
              <a:chOff x="695639" y="1910083"/>
              <a:chExt cx="4706216" cy="1959775"/>
            </a:xfrm>
          </p:grpSpPr>
          <p:sp>
            <p:nvSpPr>
              <p:cNvPr id="62" name="Rectangle: Rounded Corners 61"/>
              <p:cNvSpPr/>
              <p:nvPr/>
            </p:nvSpPr>
            <p:spPr>
              <a:xfrm>
                <a:off x="695639" y="1910083"/>
                <a:ext cx="4706216" cy="19597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sp>
            <p:nvSpPr>
              <p:cNvPr id="63" name="Rectangle: Rounded Corners 62"/>
              <p:cNvSpPr/>
              <p:nvPr/>
            </p:nvSpPr>
            <p:spPr>
              <a:xfrm>
                <a:off x="701080" y="1915587"/>
                <a:ext cx="226370" cy="1954271"/>
              </a:xfrm>
              <a:prstGeom prst="roundRect">
                <a:avLst/>
              </a:prstGeom>
              <a:solidFill>
                <a:srgbClr val="2AAF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cs typeface="Arial" panose="020B0604020202020204"/>
                </a:endParaRPr>
              </a:p>
            </p:txBody>
          </p:sp>
        </p:grpSp>
        <p:sp>
          <p:nvSpPr>
            <p:cNvPr id="58" name="TextBox 57"/>
            <p:cNvSpPr txBox="1"/>
            <p:nvPr/>
          </p:nvSpPr>
          <p:spPr>
            <a:xfrm>
              <a:off x="1225827" y="1717262"/>
              <a:ext cx="4295912"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800" b="1">
                  <a:solidFill>
                    <a:srgbClr val="D7B118"/>
                  </a:solidFill>
                </a:rPr>
                <a:t>Core Features</a:t>
              </a:r>
              <a:endParaRPr lang="en-US" sz="1800" b="1">
                <a:solidFill>
                  <a:srgbClr val="D7B118"/>
                </a:solidFill>
              </a:endParaRPr>
            </a:p>
            <a:p>
              <a:pPr marL="285750" indent="-285750">
                <a:buChar char="•"/>
              </a:pPr>
              <a:endParaRPr lang="en-US"/>
            </a:p>
            <a:p>
              <a:endParaRPr lang="en-US" b="1">
                <a:solidFill>
                  <a:srgbClr val="D7B118"/>
                </a:solidFill>
              </a:endParaRPr>
            </a:p>
            <a:p>
              <a:pPr marL="228600" indent="-228600">
                <a:buChar char="•"/>
              </a:pPr>
              <a:endParaRPr lang="en-US"/>
            </a:p>
            <a:p>
              <a:pPr algn="ctr"/>
              <a:endParaRPr lang="en-GB"/>
            </a:p>
          </p:txBody>
        </p:sp>
        <p:sp>
          <p:nvSpPr>
            <p:cNvPr id="59" name="TextBox 58"/>
            <p:cNvSpPr txBox="1"/>
            <p:nvPr/>
          </p:nvSpPr>
          <p:spPr>
            <a:xfrm>
              <a:off x="1645153" y="2111561"/>
              <a:ext cx="404633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URL shortening</a:t>
              </a:r>
              <a:endParaRPr lang="en-US" sz="2000">
                <a:solidFill>
                  <a:schemeClr val="bg1"/>
                </a:solidFill>
              </a:endParaRPr>
            </a:p>
            <a:p>
              <a:pPr marL="285750" indent="-285750">
                <a:buChar char="•"/>
              </a:pPr>
              <a:endParaRPr lang="en-US"/>
            </a:p>
            <a:p>
              <a:endParaRPr lang="en-GB" sz="2000">
                <a:solidFill>
                  <a:schemeClr val="bg1"/>
                </a:solidFill>
              </a:endParaRPr>
            </a:p>
            <a:p>
              <a:pPr marL="285750" indent="-285750">
                <a:buChar char="•"/>
              </a:pPr>
              <a:endParaRPr lang="en-US"/>
            </a:p>
            <a:p>
              <a:endParaRPr lang="en-GB" sz="2000">
                <a:solidFill>
                  <a:srgbClr val="D7B118"/>
                </a:solidFill>
              </a:endParaRPr>
            </a:p>
          </p:txBody>
        </p:sp>
        <p:sp>
          <p:nvSpPr>
            <p:cNvPr id="60" name="TextBox 59"/>
            <p:cNvSpPr txBox="1"/>
            <p:nvPr/>
          </p:nvSpPr>
          <p:spPr>
            <a:xfrm>
              <a:off x="1636768" y="2580791"/>
              <a:ext cx="3858591"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dirty="0">
                  <a:solidFill>
                    <a:schemeClr val="bg1"/>
                  </a:solidFill>
                </a:rPr>
                <a:t>Simple monitoring dashboard</a:t>
              </a:r>
              <a:endParaRPr lang="en-US" dirty="0">
                <a:solidFill>
                  <a:schemeClr val="bg1"/>
                </a:solidFill>
              </a:endParaRPr>
            </a:p>
            <a:p>
              <a:pPr>
                <a:buChar char="•"/>
              </a:pPr>
              <a:endParaRPr lang="en-US" dirty="0"/>
            </a:p>
            <a:p>
              <a:pPr marL="285750" indent="-285750">
                <a:buChar char="•"/>
              </a:pPr>
              <a:endParaRPr lang="en-GB" sz="2000" dirty="0">
                <a:solidFill>
                  <a:schemeClr val="bg1"/>
                </a:solidFill>
              </a:endParaRPr>
            </a:p>
            <a:p>
              <a:pPr marL="285750" indent="-285750">
                <a:buChar char="•"/>
              </a:pPr>
              <a:endParaRPr lang="en-US" dirty="0"/>
            </a:p>
            <a:p>
              <a:endParaRPr lang="en-GB" sz="2000" dirty="0">
                <a:solidFill>
                  <a:schemeClr val="bg1"/>
                </a:solidFill>
              </a:endParaRPr>
            </a:p>
            <a:p>
              <a:pPr marL="285750" indent="-285750">
                <a:buChar char="•"/>
              </a:pPr>
              <a:endParaRPr lang="en-US" dirty="0"/>
            </a:p>
            <a:p>
              <a:pPr marL="285750" indent="-285750">
                <a:buFont typeface="Arial" panose="020B0604020202020204"/>
                <a:buChar char="•"/>
              </a:pPr>
              <a:endParaRPr lang="en-GB" sz="2000" dirty="0">
                <a:solidFill>
                  <a:srgbClr val="D7B118"/>
                </a:solidFill>
              </a:endParaRPr>
            </a:p>
          </p:txBody>
        </p:sp>
        <p:sp>
          <p:nvSpPr>
            <p:cNvPr id="61" name="TextBox 60"/>
            <p:cNvSpPr txBox="1"/>
            <p:nvPr/>
          </p:nvSpPr>
          <p:spPr>
            <a:xfrm>
              <a:off x="1645053" y="3119050"/>
              <a:ext cx="38585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2000">
                  <a:solidFill>
                    <a:schemeClr val="bg1"/>
                  </a:solidFill>
                </a:rPr>
                <a:t>Easy Docker deployment</a:t>
              </a:r>
              <a:endParaRPr lang="en-US">
                <a:solidFill>
                  <a:schemeClr val="bg1"/>
                </a:solidFill>
              </a:endParaRPr>
            </a:p>
            <a:p>
              <a:endParaRPr lang="en-GB" sz="2000">
                <a:solidFill>
                  <a:schemeClr val="bg1"/>
                </a:solidFill>
              </a:endParaRPr>
            </a:p>
            <a:p>
              <a:pPr algn="l"/>
              <a:endParaRPr lang="en-GB"/>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10/14/24</a:t>
            </a:r>
            <a:endParaRPr lang="en-US"/>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65" name="Google Shape;165;p6"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2" name="TextBox 1"/>
          <p:cNvSpPr txBox="1"/>
          <p:nvPr/>
        </p:nvSpPr>
        <p:spPr>
          <a:xfrm>
            <a:off x="1544021" y="422902"/>
            <a:ext cx="36081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3600" b="1">
                <a:solidFill>
                  <a:srgbClr val="336EA8"/>
                </a:solidFill>
                <a:latin typeface="Calibri" panose="020F0502020204030204"/>
                <a:ea typeface="Calibri" panose="020F0502020204030204"/>
                <a:cs typeface="Calibri" panose="020F0502020204030204"/>
              </a:rPr>
              <a:t>Data Structure</a:t>
            </a:r>
            <a:endParaRPr lang="en-US" sz="3600" b="1">
              <a:solidFill>
                <a:srgbClr val="336EA8"/>
              </a:solidFill>
              <a:latin typeface="Calibri" panose="020F0502020204030204"/>
              <a:ea typeface="Calibri" panose="020F0502020204030204"/>
              <a:cs typeface="Calibri" panose="020F0502020204030204"/>
            </a:endParaRPr>
          </a:p>
        </p:txBody>
      </p:sp>
      <p:sp>
        <p:nvSpPr>
          <p:cNvPr id="3" name="TextBox 2"/>
          <p:cNvSpPr txBox="1"/>
          <p:nvPr/>
        </p:nvSpPr>
        <p:spPr>
          <a:xfrm>
            <a:off x="1565190" y="1287163"/>
            <a:ext cx="7609701"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solidFill>
                  <a:srgbClr val="2AAF82"/>
                </a:solidFill>
              </a:rPr>
              <a:t>Database Architecture</a:t>
            </a:r>
            <a:endParaRPr lang="en-US" sz="2400" b="1">
              <a:solidFill>
                <a:srgbClr val="2AAF82"/>
              </a:solidFill>
            </a:endParaRPr>
          </a:p>
          <a:p>
            <a:pPr marL="228600" indent="-228600">
              <a:buChar char="•"/>
            </a:pPr>
            <a:endParaRPr lang="en-US"/>
          </a:p>
          <a:p>
            <a:pPr algn="ctr"/>
            <a:endParaRPr lang="en-GB"/>
          </a:p>
        </p:txBody>
      </p:sp>
      <p:sp>
        <p:nvSpPr>
          <p:cNvPr id="4" name="TextBox 3"/>
          <p:cNvSpPr txBox="1"/>
          <p:nvPr/>
        </p:nvSpPr>
        <p:spPr>
          <a:xfrm>
            <a:off x="1966784" y="1843217"/>
            <a:ext cx="719781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buChar char="•"/>
            </a:pPr>
            <a:r>
              <a:rPr lang="en-US" sz="2400" b="1">
                <a:solidFill>
                  <a:srgbClr val="336EA8"/>
                </a:solidFill>
              </a:rPr>
              <a:t>Relational database (SQLite)</a:t>
            </a:r>
            <a:endParaRPr lang="en-US" sz="2400" b="1">
              <a:solidFill>
                <a:srgbClr val="336EA8"/>
              </a:solidFill>
            </a:endParaRPr>
          </a:p>
          <a:p>
            <a:pPr marL="228600" indent="-228600">
              <a:buChar char="•"/>
            </a:pPr>
            <a:r>
              <a:rPr lang="en-US" sz="2400">
                <a:solidFill>
                  <a:srgbClr val="336EA8"/>
                </a:solidFill>
              </a:rPr>
              <a:t>Lightweight, file-based, easy to containerize and deploy.</a:t>
            </a:r>
            <a:endParaRPr lang="en-US" sz="2400">
              <a:solidFill>
                <a:srgbClr val="336EA8"/>
              </a:solidFill>
            </a:endParaRPr>
          </a:p>
          <a:p>
            <a:endParaRPr lang="en-US" sz="2400" b="1"/>
          </a:p>
          <a:p>
            <a:pPr algn="ctr"/>
            <a:endParaRPr lang="en-GB" sz="2400"/>
          </a:p>
        </p:txBody>
      </p:sp>
      <p:sp>
        <p:nvSpPr>
          <p:cNvPr id="5" name="TextBox 4"/>
          <p:cNvSpPr txBox="1"/>
          <p:nvPr/>
        </p:nvSpPr>
        <p:spPr>
          <a:xfrm>
            <a:off x="1544595" y="3048000"/>
            <a:ext cx="760970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solidFill>
                  <a:srgbClr val="2AAF82"/>
                </a:solidFill>
              </a:rPr>
              <a:t>Key Entities</a:t>
            </a:r>
            <a:endParaRPr lang="en-US" sz="2400" b="1">
              <a:solidFill>
                <a:srgbClr val="2AAF82"/>
              </a:solidFill>
            </a:endParaRPr>
          </a:p>
          <a:p>
            <a:pPr marL="228600" indent="-228600">
              <a:buFont typeface="Arial" panose="020B0604020202020204"/>
              <a:buChar char="•"/>
            </a:pPr>
            <a:endParaRPr lang="en-US" sz="2400" b="1">
              <a:solidFill>
                <a:srgbClr val="2AAF82"/>
              </a:solidFill>
            </a:endParaRPr>
          </a:p>
          <a:p>
            <a:endParaRPr lang="en-GB" sz="2400" b="1">
              <a:solidFill>
                <a:srgbClr val="2AAF82"/>
              </a:solidFill>
            </a:endParaRPr>
          </a:p>
        </p:txBody>
      </p:sp>
      <p:sp>
        <p:nvSpPr>
          <p:cNvPr id="6" name="TextBox 5"/>
          <p:cNvSpPr txBox="1"/>
          <p:nvPr/>
        </p:nvSpPr>
        <p:spPr>
          <a:xfrm>
            <a:off x="1966784" y="3552567"/>
            <a:ext cx="98158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buChar char="•"/>
            </a:pPr>
            <a:r>
              <a:rPr lang="en-US" sz="2400" b="1">
                <a:solidFill>
                  <a:srgbClr val="336EA8"/>
                </a:solidFill>
              </a:rPr>
              <a:t>URLs  ( </a:t>
            </a:r>
            <a:r>
              <a:rPr lang="en-US" sz="2400">
                <a:solidFill>
                  <a:srgbClr val="336EA8"/>
                </a:solidFill>
              </a:rPr>
              <a:t>Simple one-table structure since relationships are minimal.)</a:t>
            </a:r>
            <a:endParaRPr lang="en-US" sz="2400" b="1">
              <a:solidFill>
                <a:srgbClr val="336EA8"/>
              </a:solidFill>
            </a:endParaRPr>
          </a:p>
        </p:txBody>
      </p:sp>
      <p:sp>
        <p:nvSpPr>
          <p:cNvPr id="8" name="TextBox 7"/>
          <p:cNvSpPr txBox="1"/>
          <p:nvPr/>
        </p:nvSpPr>
        <p:spPr>
          <a:xfrm>
            <a:off x="1544595" y="4042958"/>
            <a:ext cx="60960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solidFill>
                  <a:srgbClr val="2AAF82"/>
                </a:solidFill>
              </a:rPr>
              <a:t>Data Flow</a:t>
            </a:r>
            <a:endParaRPr lang="en-US" sz="2400" b="1">
              <a:solidFill>
                <a:srgbClr val="2AAF82"/>
              </a:solidFill>
            </a:endParaRPr>
          </a:p>
          <a:p>
            <a:pPr marL="228600" indent="-228600">
              <a:buChar char="•"/>
            </a:pPr>
            <a:endParaRPr lang="en-US"/>
          </a:p>
          <a:p>
            <a:pPr algn="ctr"/>
            <a:endParaRPr lang="en-GB"/>
          </a:p>
        </p:txBody>
      </p:sp>
      <p:sp>
        <p:nvSpPr>
          <p:cNvPr id="9" name="TextBox 8"/>
          <p:cNvSpPr txBox="1"/>
          <p:nvPr/>
        </p:nvSpPr>
        <p:spPr>
          <a:xfrm>
            <a:off x="1966784" y="4484995"/>
            <a:ext cx="937591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buChar char="•"/>
            </a:pPr>
            <a:r>
              <a:rPr lang="en-US" sz="2400">
                <a:solidFill>
                  <a:srgbClr val="336EA8"/>
                </a:solidFill>
              </a:rPr>
              <a:t>User submits a long URL → stored in the database with a generated short code</a:t>
            </a:r>
            <a:endParaRPr lang="en-US" sz="2400">
              <a:solidFill>
                <a:srgbClr val="336EA8"/>
              </a:solidFill>
            </a:endParaRPr>
          </a:p>
          <a:p>
            <a:pPr marL="228600" indent="-228600">
              <a:buChar char="•"/>
            </a:pPr>
            <a:r>
              <a:rPr lang="en-US" sz="2400">
                <a:solidFill>
                  <a:srgbClr val="336EA8"/>
                </a:solidFill>
              </a:rPr>
              <a:t>When the short link is visited → click count is updated</a:t>
            </a:r>
            <a:endParaRPr lang="en-US" sz="2400">
              <a:solidFill>
                <a:srgbClr val="336EA8"/>
              </a:solidFill>
            </a:endParaRPr>
          </a:p>
          <a:p>
            <a:pPr marL="228600" indent="-228600">
              <a:buChar char="•"/>
            </a:pPr>
            <a:r>
              <a:rPr lang="en-US" sz="2400">
                <a:solidFill>
                  <a:srgbClr val="336EA8"/>
                </a:solidFill>
              </a:rPr>
              <a:t>Dashboard reads stored data → displays stats and system info</a:t>
            </a:r>
            <a:endParaRPr lang="en-US" sz="2400">
              <a:solidFill>
                <a:srgbClr val="336EA8"/>
              </a:solidFill>
            </a:endParaRPr>
          </a:p>
          <a:p>
            <a:pPr marL="228600" indent="-228600">
              <a:buChar char="•"/>
            </a:pPr>
            <a:endParaRPr lang="en-GB" sz="2400">
              <a:solidFill>
                <a:srgbClr val="336EA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10/14/24</a:t>
            </a:r>
            <a:endParaRPr dirty="0"/>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65" name="Google Shape;165;p6"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2" name="TextBox 1"/>
          <p:cNvSpPr txBox="1"/>
          <p:nvPr/>
        </p:nvSpPr>
        <p:spPr>
          <a:xfrm>
            <a:off x="1554318" y="422902"/>
            <a:ext cx="90966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GB" sz="3600" b="1" dirty="0">
                <a:solidFill>
                  <a:srgbClr val="336EA8"/>
                </a:solidFill>
                <a:ea typeface="Calibri" panose="020F0502020204030204"/>
              </a:rPr>
              <a:t>Programming Languages + Frameworks</a:t>
            </a:r>
            <a:endParaRPr lang="en-US" b="1" dirty="0"/>
          </a:p>
        </p:txBody>
      </p:sp>
      <p:sp>
        <p:nvSpPr>
          <p:cNvPr id="3" name="TextBox 2"/>
          <p:cNvSpPr txBox="1"/>
          <p:nvPr/>
        </p:nvSpPr>
        <p:spPr>
          <a:xfrm>
            <a:off x="1565190" y="1287163"/>
            <a:ext cx="760970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solidFill>
                  <a:srgbClr val="2AAF82"/>
                </a:solidFill>
              </a:rPr>
              <a:t>1. Programming Languages</a:t>
            </a:r>
            <a:endParaRPr lang="en-US" sz="2400" b="1" dirty="0">
              <a:solidFill>
                <a:srgbClr val="2AAF82"/>
              </a:solidFill>
            </a:endParaRPr>
          </a:p>
          <a:p>
            <a:pPr marL="285750" indent="-285750">
              <a:buChar char="•"/>
            </a:pPr>
            <a:endParaRPr lang="en-US" dirty="0"/>
          </a:p>
          <a:p>
            <a:endParaRPr lang="en-US" sz="2400" b="1" dirty="0">
              <a:solidFill>
                <a:srgbClr val="2AAF82"/>
              </a:solidFill>
            </a:endParaRPr>
          </a:p>
          <a:p>
            <a:pPr marL="228600" indent="-228600">
              <a:buChar char="•"/>
            </a:pPr>
            <a:endParaRPr lang="en-US" dirty="0"/>
          </a:p>
          <a:p>
            <a:pPr algn="ctr"/>
            <a:endParaRPr lang="en-GB" dirty="0"/>
          </a:p>
        </p:txBody>
      </p:sp>
      <p:sp>
        <p:nvSpPr>
          <p:cNvPr id="4" name="TextBox 3"/>
          <p:cNvSpPr txBox="1"/>
          <p:nvPr/>
        </p:nvSpPr>
        <p:spPr>
          <a:xfrm>
            <a:off x="1966784" y="1843217"/>
            <a:ext cx="7197810"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buFont typeface="Arial" panose="020B0604020202020204"/>
              <a:buChar char="•"/>
            </a:pPr>
            <a:r>
              <a:rPr lang="en-US" sz="2400" b="1" dirty="0">
                <a:solidFill>
                  <a:srgbClr val="336EA8"/>
                </a:solidFill>
              </a:rPr>
              <a:t>  JavaScript (Node.js)</a:t>
            </a:r>
            <a:endParaRPr lang="en-US" dirty="0"/>
          </a:p>
          <a:p>
            <a:pPr>
              <a:buFont typeface="Arial" panose="020B0604020202020204"/>
              <a:buChar char="•"/>
            </a:pPr>
            <a:endParaRPr lang="en-US" dirty="0"/>
          </a:p>
          <a:p>
            <a:pPr marL="342900" indent="-342900">
              <a:buFont typeface="Arial" panose="020B0604020202020204"/>
              <a:buChar char="•"/>
            </a:pPr>
            <a:r>
              <a:rPr lang="en-US" sz="2400" b="1" dirty="0">
                <a:solidFill>
                  <a:srgbClr val="336EA8"/>
                </a:solidFill>
              </a:rPr>
              <a:t>HTML / CSS </a:t>
            </a:r>
            <a:endParaRPr lang="en-US" dirty="0"/>
          </a:p>
          <a:p>
            <a:endParaRPr lang="en-US" sz="2400" b="1" dirty="0"/>
          </a:p>
          <a:p>
            <a:pPr algn="ctr"/>
            <a:endParaRPr lang="en-GB" sz="2400" dirty="0"/>
          </a:p>
        </p:txBody>
      </p:sp>
      <p:sp>
        <p:nvSpPr>
          <p:cNvPr id="5" name="TextBox 4"/>
          <p:cNvSpPr txBox="1"/>
          <p:nvPr/>
        </p:nvSpPr>
        <p:spPr>
          <a:xfrm>
            <a:off x="1544595" y="3048000"/>
            <a:ext cx="760970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dirty="0">
                <a:solidFill>
                  <a:srgbClr val="2AAF82"/>
                </a:solidFill>
              </a:rPr>
              <a:t>Frameworks &amp; Tools</a:t>
            </a:r>
            <a:endParaRPr lang="en-US" dirty="0"/>
          </a:p>
          <a:p>
            <a:pPr marL="228600" indent="-228600">
              <a:buFont typeface="Arial" panose="020B0604020202020204"/>
              <a:buChar char="•"/>
            </a:pPr>
            <a:endParaRPr lang="en-US" sz="2400" b="1" dirty="0">
              <a:solidFill>
                <a:srgbClr val="2AAF82"/>
              </a:solidFill>
            </a:endParaRPr>
          </a:p>
          <a:p>
            <a:endParaRPr lang="en-GB" sz="2400" b="1" dirty="0">
              <a:solidFill>
                <a:srgbClr val="2AAF82"/>
              </a:solidFill>
            </a:endParaRPr>
          </a:p>
        </p:txBody>
      </p:sp>
      <p:sp>
        <p:nvSpPr>
          <p:cNvPr id="6" name="TextBox 5"/>
          <p:cNvSpPr txBox="1"/>
          <p:nvPr/>
        </p:nvSpPr>
        <p:spPr>
          <a:xfrm>
            <a:off x="1966784" y="3552567"/>
            <a:ext cx="981586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342900" indent="-342900">
              <a:buChar char="•"/>
            </a:pPr>
            <a:r>
              <a:rPr lang="en-US" sz="2400" b="1" dirty="0">
                <a:solidFill>
                  <a:srgbClr val="336EA8"/>
                </a:solidFill>
              </a:rPr>
              <a:t>Express.js</a:t>
            </a:r>
            <a:r>
              <a:rPr lang="en-US" sz="2400" dirty="0">
                <a:solidFill>
                  <a:srgbClr val="336EA8"/>
                </a:solidFill>
              </a:rPr>
              <a:t> (backend web framework)</a:t>
            </a:r>
            <a:endParaRPr lang="en-US" sz="2400" b="1" dirty="0">
              <a:solidFill>
                <a:srgbClr val="336EA8"/>
              </a:solidFill>
            </a:endParaRPr>
          </a:p>
          <a:p>
            <a:pPr marL="342900" indent="-342900">
              <a:buChar char="•"/>
            </a:pPr>
            <a:r>
              <a:rPr lang="en-US" sz="2400" b="1" dirty="0">
                <a:solidFill>
                  <a:srgbClr val="336EA8"/>
                </a:solidFill>
              </a:rPr>
              <a:t>Docker</a:t>
            </a:r>
            <a:r>
              <a:rPr lang="en-US" sz="2400" dirty="0">
                <a:solidFill>
                  <a:srgbClr val="336EA8"/>
                </a:solidFill>
              </a:rPr>
              <a:t> (containerization)</a:t>
            </a:r>
            <a:endParaRPr lang="en-US" sz="2400" dirty="0">
              <a:solidFill>
                <a:srgbClr val="336EA8"/>
              </a:solidFill>
            </a:endParaRPr>
          </a:p>
          <a:p>
            <a:pPr marL="342900" indent="-342900">
              <a:buChar char="•"/>
            </a:pPr>
            <a:r>
              <a:rPr lang="en-US" sz="2400" b="1" dirty="0">
                <a:solidFill>
                  <a:srgbClr val="336EA8"/>
                </a:solidFill>
              </a:rPr>
              <a:t>EJS </a:t>
            </a:r>
            <a:r>
              <a:rPr lang="en-US" sz="2400" dirty="0">
                <a:solidFill>
                  <a:srgbClr val="336EA8"/>
                </a:solidFill>
              </a:rPr>
              <a:t>( template engine )</a:t>
            </a:r>
            <a:endParaRPr lang="en-US" sz="2400" dirty="0">
              <a:solidFill>
                <a:srgbClr val="336EA8"/>
              </a:solidFill>
            </a:endParaRPr>
          </a:p>
          <a:p>
            <a:pPr marL="342900" indent="-342900">
              <a:buChar char="•"/>
            </a:pPr>
            <a:r>
              <a:rPr lang="en-US" sz="2400" b="1" dirty="0">
                <a:solidFill>
                  <a:srgbClr val="336EA8"/>
                </a:solidFill>
              </a:rPr>
              <a:t>Prometheus</a:t>
            </a:r>
            <a:endParaRPr lang="en-US" sz="2400" b="1" dirty="0">
              <a:solidFill>
                <a:srgbClr val="336EA8"/>
              </a:solidFill>
            </a:endParaRPr>
          </a:p>
          <a:p>
            <a:pPr marL="342900" indent="-342900">
              <a:buChar char="•"/>
            </a:pPr>
            <a:r>
              <a:rPr lang="en-US" sz="2400" b="1" dirty="0" err="1">
                <a:solidFill>
                  <a:srgbClr val="336EA8"/>
                </a:solidFill>
              </a:rPr>
              <a:t>grafana</a:t>
            </a:r>
            <a:endParaRPr lang="en-US" sz="2400" b="1" dirty="0">
              <a:solidFill>
                <a:srgbClr val="336EA8"/>
              </a:solidFill>
            </a:endParaRPr>
          </a:p>
          <a:p>
            <a:pPr marL="342900" indent="-342900">
              <a:buChar char="•"/>
            </a:pPr>
            <a:endParaRPr lang="en-US" sz="2400" dirty="0">
              <a:solidFill>
                <a:srgbClr val="336EA8"/>
              </a:solidFill>
            </a:endParaRPr>
          </a:p>
          <a:p>
            <a:pPr marL="342900" indent="-342900">
              <a:buChar char="•"/>
            </a:pPr>
            <a:endParaRPr lang="en-US" sz="2400" dirty="0">
              <a:solidFill>
                <a:srgbClr val="336EA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10/14/24</a:t>
            </a:r>
            <a:endParaRPr lang="en-US"/>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65" name="Google Shape;165;p6" title="download.png"/>
          <p:cNvPicPr preferRelativeResize="0"/>
          <p:nvPr/>
        </p:nvPicPr>
        <p:blipFill>
          <a:blip r:embed="rId1"/>
          <a:stretch>
            <a:fillRect/>
          </a:stretch>
        </p:blipFill>
        <p:spPr>
          <a:xfrm>
            <a:off x="9190825" y="6356350"/>
            <a:ext cx="903191" cy="365125"/>
          </a:xfrm>
          <a:prstGeom prst="rect">
            <a:avLst/>
          </a:prstGeom>
          <a:noFill/>
          <a:ln>
            <a:noFill/>
          </a:ln>
        </p:spPr>
      </p:pic>
      <p:sp>
        <p:nvSpPr>
          <p:cNvPr id="2" name="TextBox 1"/>
          <p:cNvSpPr txBox="1"/>
          <p:nvPr/>
        </p:nvSpPr>
        <p:spPr>
          <a:xfrm>
            <a:off x="1554318" y="422902"/>
            <a:ext cx="90966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3600" b="1" dirty="0">
                <a:solidFill>
                  <a:srgbClr val="336EA8"/>
                </a:solidFill>
                <a:ea typeface="Calibri" panose="020F0502020204030204"/>
              </a:rPr>
              <a:t>Live Application + Test</a:t>
            </a:r>
            <a:endParaRPr lang="en-US" sz="3600" b="1" dirty="0">
              <a:solidFill>
                <a:srgbClr val="336EA8"/>
              </a:solidFill>
              <a:ea typeface="Calibri" panose="020F0502020204030204"/>
            </a:endParaRPr>
          </a:p>
        </p:txBody>
      </p:sp>
      <p:sp>
        <p:nvSpPr>
          <p:cNvPr id="3" name="TextBox 2"/>
          <p:cNvSpPr txBox="1"/>
          <p:nvPr/>
        </p:nvSpPr>
        <p:spPr>
          <a:xfrm>
            <a:off x="1565190" y="1287163"/>
            <a:ext cx="760970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solidFill>
                  <a:srgbClr val="2AAF82"/>
                </a:solidFill>
              </a:rPr>
              <a:t>1. Live Application</a:t>
            </a:r>
            <a:endParaRPr lang="en-US" sz="2400" b="1" dirty="0">
              <a:solidFill>
                <a:srgbClr val="2AAF82"/>
              </a:solidFill>
            </a:endParaRPr>
          </a:p>
          <a:p>
            <a:pPr marL="285750" indent="-285750">
              <a:buChar char="•"/>
            </a:pPr>
            <a:endParaRPr lang="en-US" dirty="0"/>
          </a:p>
          <a:p>
            <a:endParaRPr lang="en-US" sz="2400" b="1" dirty="0">
              <a:solidFill>
                <a:srgbClr val="2AAF82"/>
              </a:solidFill>
            </a:endParaRPr>
          </a:p>
          <a:p>
            <a:pPr marL="228600" indent="-228600">
              <a:buChar char="•"/>
            </a:pPr>
            <a:endParaRPr lang="en-US" dirty="0"/>
          </a:p>
          <a:p>
            <a:pPr algn="ctr"/>
            <a:endParaRPr lang="en-GB" dirty="0"/>
          </a:p>
        </p:txBody>
      </p:sp>
      <p:sp>
        <p:nvSpPr>
          <p:cNvPr id="4" name="TextBox 3"/>
          <p:cNvSpPr txBox="1"/>
          <p:nvPr/>
        </p:nvSpPr>
        <p:spPr>
          <a:xfrm>
            <a:off x="1966784" y="1843217"/>
            <a:ext cx="9295726" cy="215443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buFont typeface="Arial" panose="020B0604020202020204"/>
              <a:buChar char="•"/>
            </a:pPr>
            <a:r>
              <a:rPr lang="en-US" sz="2400" b="1" dirty="0">
                <a:solidFill>
                  <a:srgbClr val="336EA8"/>
                </a:solidFill>
              </a:rPr>
              <a:t>   Currently running in production via docker container</a:t>
            </a:r>
            <a:endParaRPr lang="en-US" sz="2400" b="1" dirty="0">
              <a:solidFill>
                <a:srgbClr val="336EA8"/>
              </a:solidFill>
            </a:endParaRPr>
          </a:p>
          <a:p>
            <a:pPr marL="342900" indent="-342900">
              <a:buFont typeface="Arial" panose="020B0604020202020204" pitchFamily="34" charset="0"/>
              <a:buChar char="•"/>
            </a:pPr>
            <a:r>
              <a:rPr lang="en-US" sz="2400" b="1" dirty="0">
                <a:solidFill>
                  <a:srgbClr val="336EA8"/>
                </a:solidFill>
              </a:rPr>
              <a:t>Fully functional URL shortening and monitoring service</a:t>
            </a:r>
            <a:endParaRPr lang="en-US" sz="2400" b="1" dirty="0">
              <a:solidFill>
                <a:srgbClr val="336EA8"/>
              </a:solidFill>
            </a:endParaRPr>
          </a:p>
          <a:p>
            <a:pPr>
              <a:buFont typeface="Arial" panose="020B0604020202020204"/>
              <a:buChar char="•"/>
            </a:pPr>
            <a:endParaRPr lang="en-US" sz="2400" b="1" dirty="0">
              <a:solidFill>
                <a:srgbClr val="336EA8"/>
              </a:solidFill>
            </a:endParaRPr>
          </a:p>
          <a:p>
            <a:endParaRPr lang="en-US" dirty="0"/>
          </a:p>
          <a:p>
            <a:endParaRPr lang="en-US" sz="2400" b="1" dirty="0"/>
          </a:p>
          <a:p>
            <a:pPr algn="ctr"/>
            <a:endParaRPr lang="en-GB" sz="2400" dirty="0"/>
          </a:p>
        </p:txBody>
      </p:sp>
      <p:sp>
        <p:nvSpPr>
          <p:cNvPr id="5" name="TextBox 4"/>
          <p:cNvSpPr txBox="1"/>
          <p:nvPr/>
        </p:nvSpPr>
        <p:spPr>
          <a:xfrm>
            <a:off x="1544595" y="3048000"/>
            <a:ext cx="760970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solidFill>
                  <a:srgbClr val="2AAF82"/>
                </a:solidFill>
              </a:rPr>
              <a:t>2. Testing Phases</a:t>
            </a:r>
            <a:endParaRPr lang="en-US" sz="2400" b="1" dirty="0">
              <a:solidFill>
                <a:srgbClr val="2AAF82"/>
              </a:solidFill>
            </a:endParaRPr>
          </a:p>
          <a:p>
            <a:pPr marL="228600" indent="-228600">
              <a:buFont typeface="Arial" panose="020B0604020202020204"/>
              <a:buChar char="•"/>
            </a:pPr>
            <a:endParaRPr lang="en-US" sz="2400" b="1" dirty="0">
              <a:solidFill>
                <a:srgbClr val="2AAF82"/>
              </a:solidFill>
            </a:endParaRPr>
          </a:p>
          <a:p>
            <a:endParaRPr lang="en-GB" sz="2400" b="1" dirty="0">
              <a:solidFill>
                <a:srgbClr val="2AAF82"/>
              </a:solidFill>
            </a:endParaRPr>
          </a:p>
        </p:txBody>
      </p:sp>
      <p:sp>
        <p:nvSpPr>
          <p:cNvPr id="6" name="TextBox 5"/>
          <p:cNvSpPr txBox="1"/>
          <p:nvPr/>
        </p:nvSpPr>
        <p:spPr>
          <a:xfrm>
            <a:off x="1966784" y="3552567"/>
            <a:ext cx="981586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342900" indent="-342900">
              <a:buFont typeface="Arial" panose="020B0604020202020204"/>
              <a:buChar char="•"/>
            </a:pPr>
            <a:r>
              <a:rPr lang="en-US" sz="2400" b="1" dirty="0">
                <a:solidFill>
                  <a:srgbClr val="336EA8"/>
                </a:solidFill>
              </a:rPr>
              <a:t>Unit Testing: Backend functions tested individually </a:t>
            </a:r>
            <a:endParaRPr lang="en-US" sz="2400" b="1" dirty="0">
              <a:solidFill>
                <a:srgbClr val="336EA8"/>
              </a:solidFill>
            </a:endParaRPr>
          </a:p>
          <a:p>
            <a:pPr marL="342900" indent="-342900">
              <a:buFont typeface="Arial" panose="020B0604020202020204"/>
              <a:buChar char="•"/>
            </a:pPr>
            <a:r>
              <a:rPr lang="en-US" sz="2400" b="1" dirty="0">
                <a:solidFill>
                  <a:srgbClr val="336EA8"/>
                </a:solidFill>
              </a:rPr>
              <a:t>Integration testing: API Endpoints and dashboard verified </a:t>
            </a:r>
            <a:endParaRPr lang="en-US" sz="2400" b="1" dirty="0">
              <a:solidFill>
                <a:srgbClr val="336EA8"/>
              </a:solidFill>
            </a:endParaRPr>
          </a:p>
          <a:p>
            <a:pPr marL="342900" indent="-342900">
              <a:buFont typeface="Arial" panose="020B0604020202020204"/>
              <a:buChar char="•"/>
            </a:pPr>
            <a:r>
              <a:rPr lang="en-US" sz="2400" b="1" dirty="0">
                <a:solidFill>
                  <a:srgbClr val="336EA8"/>
                </a:solidFill>
              </a:rPr>
              <a:t>User Testing: Short links created, shared, and tracked</a:t>
            </a:r>
            <a:endParaRPr lang="en-US" sz="2400" b="1" dirty="0">
              <a:solidFill>
                <a:srgbClr val="336EA8"/>
              </a:solidFill>
            </a:endParaRPr>
          </a:p>
          <a:p>
            <a:pPr marL="342900" indent="-342900">
              <a:buChar char="•"/>
            </a:pPr>
            <a:endParaRPr lang="en-US" sz="2400" dirty="0">
              <a:solidFill>
                <a:srgbClr val="336EA8"/>
              </a:solidFill>
            </a:endParaRPr>
          </a:p>
          <a:p>
            <a:pPr marL="342900" indent="-342900">
              <a:buChar char="•"/>
            </a:pPr>
            <a:endParaRPr lang="en-US" sz="2400" dirty="0">
              <a:solidFill>
                <a:srgbClr val="336EA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1271" y="579423"/>
            <a:ext cx="5468294" cy="549480"/>
          </a:xfrm>
        </p:spPr>
        <p:txBody>
          <a:bodyPr>
            <a:normAutofit/>
          </a:bodyPr>
          <a:lstStyle/>
          <a:p>
            <a:r>
              <a:rPr lang="en-US" sz="3000" dirty="0">
                <a:solidFill>
                  <a:srgbClr val="336EA8"/>
                </a:solidFill>
              </a:rPr>
              <a:t>List of Reports &amp; Documentation :</a:t>
            </a:r>
            <a:endParaRPr lang="ar-EG" sz="3000" dirty="0">
              <a:solidFill>
                <a:srgbClr val="336EA8"/>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Rectangle 1"/>
          <p:cNvSpPr>
            <a:spLocks noGrp="1" noChangeArrowheads="1"/>
          </p:cNvSpPr>
          <p:nvPr>
            <p:ph type="subTitle" idx="1"/>
          </p:nvPr>
        </p:nvSpPr>
        <p:spPr bwMode="auto">
          <a:xfrm>
            <a:off x="1415459" y="1128903"/>
            <a:ext cx="8467383"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ar-EG" altLang="ar-EG" sz="1600" b="1" i="0" u="none" strike="noStrike" cap="none" normalizeH="0" baseline="0" dirty="0" err="1">
                <a:ln>
                  <a:noFill/>
                </a:ln>
                <a:solidFill>
                  <a:srgbClr val="047954"/>
                </a:solidFill>
                <a:effectLst/>
                <a:latin typeface="Arial" panose="020B0604020202020204" pitchFamily="34" charset="0"/>
              </a:rPr>
              <a:t>Source</a:t>
            </a:r>
            <a:r>
              <a:rPr kumimoji="0" lang="ar-EG" altLang="ar-EG" sz="1600" b="1" i="0" u="none" strike="noStrike" cap="none" normalizeH="0" baseline="0" dirty="0">
                <a:ln>
                  <a:noFill/>
                </a:ln>
                <a:solidFill>
                  <a:srgbClr val="047954"/>
                </a:solidFill>
                <a:effectLst/>
                <a:latin typeface="Arial" panose="020B0604020202020204" pitchFamily="34" charset="0"/>
              </a:rPr>
              <a:t> </a:t>
            </a:r>
            <a:r>
              <a:rPr kumimoji="0" lang="ar-EG" altLang="ar-EG" sz="1600" b="1" i="0" u="none" strike="noStrike" cap="none" normalizeH="0" baseline="0" dirty="0" err="1">
                <a:ln>
                  <a:noFill/>
                </a:ln>
                <a:solidFill>
                  <a:srgbClr val="047954"/>
                </a:solidFill>
                <a:effectLst/>
                <a:latin typeface="Arial" panose="020B0604020202020204" pitchFamily="34" charset="0"/>
              </a:rPr>
              <a:t>Code</a:t>
            </a:r>
            <a:r>
              <a:rPr kumimoji="0" lang="ar-EG" altLang="ar-EG" sz="1600" b="1" i="0" u="none" strike="noStrike" cap="none" normalizeH="0" baseline="0" dirty="0">
                <a:ln>
                  <a:noFill/>
                </a:ln>
                <a:solidFill>
                  <a:srgbClr val="047954"/>
                </a:solidFill>
                <a:effectLst/>
                <a:latin typeface="Arial" panose="020B0604020202020204" pitchFamily="34" charset="0"/>
              </a:rPr>
              <a:t> </a:t>
            </a:r>
            <a:r>
              <a:rPr kumimoji="0" lang="ar-EG" altLang="ar-EG" sz="1600" b="1" i="0" u="none" strike="noStrike" cap="none" normalizeH="0" baseline="0" dirty="0" err="1">
                <a:ln>
                  <a:noFill/>
                </a:ln>
                <a:solidFill>
                  <a:srgbClr val="047954"/>
                </a:solidFill>
                <a:effectLst/>
                <a:latin typeface="Arial" panose="020B0604020202020204" pitchFamily="34" charset="0"/>
              </a:rPr>
              <a:t>Repository</a:t>
            </a:r>
            <a:r>
              <a:rPr kumimoji="0" lang="ar-EG" altLang="ar-EG" sz="1600" b="1" i="0" u="none" strike="noStrike" cap="none" normalizeH="0" baseline="0" dirty="0">
                <a:ln>
                  <a:noFill/>
                </a:ln>
                <a:solidFill>
                  <a:schemeClr val="accent4">
                    <a:lumMod val="50000"/>
                  </a:schemeClr>
                </a:solidFill>
                <a:effectLst/>
                <a:latin typeface="Arial" panose="020B0604020202020204" pitchFamily="34" charset="0"/>
              </a:rPr>
              <a:t>:</a:t>
            </a:r>
            <a:r>
              <a:rPr kumimoji="0" lang="ar-EG" altLang="ar-EG" sz="16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Full</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codebase</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hosted</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on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GitHub</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including</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the </a:t>
            </a:r>
            <a:r>
              <a:rPr kumimoji="0" lang="ar-EG" altLang="ar-EG" sz="1500" b="0" i="0" u="none" strike="noStrike" cap="none" normalizeH="0" baseline="0" dirty="0" err="1">
                <a:ln>
                  <a:noFill/>
                </a:ln>
                <a:solidFill>
                  <a:schemeClr val="accent4">
                    <a:lumMod val="50000"/>
                  </a:schemeClr>
                </a:solidFill>
                <a:effectLst/>
                <a:latin typeface="Arial Unicode MS"/>
              </a:rPr>
              <a:t>docker-compose.yml</a:t>
            </a:r>
            <a:endParaRPr kumimoji="0" lang="ar-EG" altLang="ar-EG" sz="1500" b="0" i="0" u="none" strike="noStrike" cap="none" normalizeH="0" baseline="0" dirty="0">
              <a:ln>
                <a:noFill/>
              </a:ln>
              <a:solidFill>
                <a:schemeClr val="accent4">
                  <a:lumMod val="50000"/>
                </a:schemeClr>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pPr>
            <a:r>
              <a:rPr kumimoji="0" lang="en-US"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a:ln>
                  <a:noFill/>
                </a:ln>
                <a:solidFill>
                  <a:schemeClr val="accent4">
                    <a:lumMod val="50000"/>
                  </a:schemeClr>
                </a:solidFill>
                <a:effectLst/>
              </a:rPr>
              <a:t> and </a:t>
            </a:r>
            <a:r>
              <a:rPr kumimoji="0" lang="ar-EG" altLang="ar-EG" sz="1500" b="0" i="0" u="none" strike="noStrike" cap="none" normalizeH="0" baseline="0" dirty="0" err="1">
                <a:ln>
                  <a:noFill/>
                </a:ln>
                <a:solidFill>
                  <a:schemeClr val="accent4">
                    <a:lumMod val="50000"/>
                  </a:schemeClr>
                </a:solidFill>
                <a:effectLst/>
              </a:rPr>
              <a:t>application</a:t>
            </a:r>
            <a:r>
              <a:rPr kumimoji="0" lang="ar-EG"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err="1">
                <a:ln>
                  <a:noFill/>
                </a:ln>
                <a:solidFill>
                  <a:schemeClr val="accent4">
                    <a:lumMod val="50000"/>
                  </a:schemeClr>
                </a:solidFill>
                <a:effectLst/>
              </a:rPr>
              <a:t>logic</a:t>
            </a:r>
            <a:r>
              <a:rPr kumimoji="0" lang="ar-EG" altLang="ar-EG" sz="1500" b="0" i="0" u="none" strike="noStrike" cap="none" normalizeH="0" baseline="0" dirty="0">
                <a:ln>
                  <a:noFill/>
                </a:ln>
                <a:solidFill>
                  <a:schemeClr val="accent4">
                    <a:lumMod val="50000"/>
                  </a:schemeClr>
                </a:solidFill>
                <a:effectLst/>
              </a:rPr>
              <a:t>.</a:t>
            </a:r>
            <a:endParaRPr kumimoji="0" lang="ar-EG" altLang="ar-EG" sz="1500" b="0" i="0" u="none" strike="noStrike" cap="none" normalizeH="0" baseline="0" dirty="0">
              <a:ln>
                <a:noFill/>
              </a:ln>
              <a:solidFill>
                <a:schemeClr val="accent4">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pPr>
            <a:endParaRPr kumimoji="0" lang="ar-EG" altLang="ar-EG"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ar-EG" altLang="ar-EG" sz="1600" b="1" i="0" u="none" strike="noStrike" cap="none" normalizeH="0" baseline="0" dirty="0" err="1">
                <a:ln>
                  <a:noFill/>
                </a:ln>
                <a:solidFill>
                  <a:srgbClr val="047954"/>
                </a:solidFill>
                <a:effectLst/>
                <a:latin typeface="Arial" panose="020B0604020202020204" pitchFamily="34" charset="0"/>
              </a:rPr>
              <a:t>Technical</a:t>
            </a:r>
            <a:r>
              <a:rPr kumimoji="0" lang="ar-EG" altLang="ar-EG" sz="1600" b="1" i="0" u="none" strike="noStrike" cap="none" normalizeH="0" baseline="0" dirty="0">
                <a:ln>
                  <a:noFill/>
                </a:ln>
                <a:solidFill>
                  <a:srgbClr val="047954"/>
                </a:solidFill>
                <a:effectLst/>
                <a:latin typeface="Arial" panose="020B0604020202020204" pitchFamily="34" charset="0"/>
              </a:rPr>
              <a:t> </a:t>
            </a:r>
            <a:r>
              <a:rPr kumimoji="0" lang="ar-EG" altLang="ar-EG" sz="1600" b="1" i="0" u="none" strike="noStrike" cap="none" normalizeH="0" baseline="0" dirty="0" err="1">
                <a:ln>
                  <a:noFill/>
                </a:ln>
                <a:solidFill>
                  <a:srgbClr val="047954"/>
                </a:solidFill>
                <a:effectLst/>
                <a:latin typeface="Arial" panose="020B0604020202020204" pitchFamily="34" charset="0"/>
              </a:rPr>
              <a:t>Documentation</a:t>
            </a:r>
            <a:r>
              <a:rPr kumimoji="0" lang="ar-EG" altLang="ar-EG" sz="1600" b="1" i="0" u="none" strike="noStrike" cap="none" normalizeH="0" baseline="0" dirty="0">
                <a:ln>
                  <a:noFill/>
                </a:ln>
                <a:solidFill>
                  <a:srgbClr val="047954"/>
                </a:solidFill>
                <a:effectLst/>
                <a:latin typeface="Arial" panose="020B0604020202020204" pitchFamily="34" charset="0"/>
              </a:rPr>
              <a:t> (README):</a:t>
            </a:r>
            <a:r>
              <a:rPr kumimoji="0" lang="ar-EG" altLang="ar-EG" sz="1600" b="0" i="0" u="none" strike="noStrike" cap="none" normalizeH="0" baseline="0" dirty="0">
                <a:ln>
                  <a:noFill/>
                </a:ln>
                <a:solidFill>
                  <a:srgbClr val="047954"/>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Comprehensive</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guide</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covering</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prerequisites</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a:t>
            </a:r>
            <a:endParaRPr kumimoji="0" lang="ar-EG" altLang="ar-EG" sz="1500" b="0" i="0" u="none" strike="noStrike" cap="none" normalizeH="0" baseline="0" dirty="0">
              <a:ln>
                <a:noFill/>
              </a:ln>
              <a:solidFill>
                <a:schemeClr val="accent4">
                  <a:lumMod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en-US" altLang="ar-EG" sz="1500" dirty="0">
                <a:solidFill>
                  <a:schemeClr val="accent4">
                    <a:lumMod val="50000"/>
                  </a:schemeClr>
                </a:solidFill>
                <a:latin typeface="Arial" panose="020B0604020202020204" pitchFamily="34" charset="0"/>
              </a:rPr>
              <a:t>  </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installation</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steps</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Unicode MS"/>
              </a:rPr>
              <a:t>docker-compose</a:t>
            </a:r>
            <a:r>
              <a:rPr kumimoji="0" lang="ar-EG" altLang="ar-EG" sz="1500" b="0" i="0" u="none" strike="noStrike" cap="none" normalizeH="0" baseline="0" dirty="0">
                <a:ln>
                  <a:noFill/>
                </a:ln>
                <a:solidFill>
                  <a:schemeClr val="accent4">
                    <a:lumMod val="50000"/>
                  </a:schemeClr>
                </a:solidFill>
                <a:effectLst/>
                <a:latin typeface="Arial Unicode MS"/>
              </a:rPr>
              <a:t> </a:t>
            </a:r>
            <a:r>
              <a:rPr kumimoji="0" lang="ar-EG" altLang="ar-EG" sz="1500" b="0" i="0" u="none" strike="noStrike" cap="none" normalizeH="0" baseline="0" dirty="0" err="1">
                <a:ln>
                  <a:noFill/>
                </a:ln>
                <a:solidFill>
                  <a:schemeClr val="accent4">
                    <a:lumMod val="50000"/>
                  </a:schemeClr>
                </a:solidFill>
                <a:effectLst/>
                <a:latin typeface="Arial Unicode MS"/>
              </a:rPr>
              <a:t>up</a:t>
            </a:r>
            <a:r>
              <a:rPr kumimoji="0" lang="ar-EG" altLang="ar-EG" sz="1500" b="0" i="0" u="none" strike="noStrike" cap="none" normalizeH="0" baseline="0" dirty="0">
                <a:ln>
                  <a:noFill/>
                </a:ln>
                <a:solidFill>
                  <a:schemeClr val="accent4">
                    <a:lumMod val="50000"/>
                  </a:schemeClr>
                </a:solidFill>
                <a:effectLst/>
              </a:rPr>
              <a:t>), and </a:t>
            </a:r>
            <a:r>
              <a:rPr kumimoji="0" lang="ar-EG" altLang="ar-EG" sz="1500" b="0" i="0" u="none" strike="noStrike" cap="none" normalizeH="0" baseline="0" dirty="0" err="1">
                <a:ln>
                  <a:noFill/>
                </a:ln>
                <a:solidFill>
                  <a:schemeClr val="accent4">
                    <a:lumMod val="50000"/>
                  </a:schemeClr>
                </a:solidFill>
                <a:effectLst/>
              </a:rPr>
              <a:t>environment</a:t>
            </a:r>
            <a:r>
              <a:rPr kumimoji="0" lang="ar-EG"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err="1">
                <a:ln>
                  <a:noFill/>
                </a:ln>
                <a:solidFill>
                  <a:schemeClr val="accent4">
                    <a:lumMod val="50000"/>
                  </a:schemeClr>
                </a:solidFill>
                <a:effectLst/>
              </a:rPr>
              <a:t>variable</a:t>
            </a:r>
            <a:r>
              <a:rPr kumimoji="0" lang="ar-EG" altLang="ar-EG" sz="1500" b="0" i="0" u="none" strike="noStrike" cap="none" normalizeH="0" baseline="0" dirty="0">
                <a:ln>
                  <a:noFill/>
                </a:ln>
                <a:solidFill>
                  <a:schemeClr val="accent4">
                    <a:lumMod val="50000"/>
                  </a:schemeClr>
                </a:solidFill>
                <a:effectLst/>
              </a:rPr>
              <a:t> configuration</a:t>
            </a:r>
            <a:endParaRPr lang="ar-EG" altLang="ar-EG" sz="1500" dirty="0">
              <a:solidFill>
                <a:schemeClr val="accent4">
                  <a:lumMod val="50000"/>
                </a:schemeClr>
              </a:solidFill>
            </a:endParaRPr>
          </a:p>
          <a:p>
            <a:pPr marL="0" marR="0" lvl="0" indent="0" algn="l" defTabSz="914400" rtl="0" eaLnBrk="0" fontAlgn="base" latinLnBrk="0" hangingPunct="0">
              <a:lnSpc>
                <a:spcPct val="100000"/>
              </a:lnSpc>
              <a:spcBef>
                <a:spcPct val="0"/>
              </a:spcBef>
              <a:spcAft>
                <a:spcPct val="0"/>
              </a:spcAft>
              <a:buClrTx/>
              <a:buSzTx/>
            </a:pPr>
            <a:r>
              <a:rPr lang="ar-EG" altLang="ar-EG" sz="1500" dirty="0">
                <a:solidFill>
                  <a:schemeClr val="accent4">
                    <a:lumMod val="50000"/>
                  </a:schemeClr>
                </a:solidFill>
                <a:latin typeface="Arial Unicode MS"/>
              </a:rPr>
              <a:t>)  </a:t>
            </a:r>
            <a:r>
              <a:rPr kumimoji="0" lang="ar-EG" altLang="ar-EG" sz="1500" b="0" i="0" u="none" strike="noStrike" cap="none" normalizeH="0" baseline="0" dirty="0">
                <a:ln>
                  <a:noFill/>
                </a:ln>
                <a:solidFill>
                  <a:schemeClr val="accent4">
                    <a:lumMod val="50000"/>
                  </a:schemeClr>
                </a:solidFill>
                <a:effectLst/>
                <a:latin typeface="Arial Unicode MS"/>
              </a:rPr>
              <a:t>NODE_ENV</a:t>
            </a:r>
            <a:r>
              <a:rPr kumimoji="0" lang="ar-EG"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a:ln>
                  <a:noFill/>
                </a:ln>
                <a:solidFill>
                  <a:schemeClr val="accent4">
                    <a:lumMod val="50000"/>
                  </a:schemeClr>
                </a:solidFill>
                <a:effectLst/>
                <a:latin typeface="Arial Unicode MS"/>
              </a:rPr>
              <a:t>DB_PATH</a:t>
            </a:r>
            <a:r>
              <a:rPr kumimoji="0" lang="ar-EG" altLang="ar-EG" sz="1500" b="0" i="0" u="none" strike="noStrike" cap="none" normalizeH="0" baseline="0" dirty="0">
                <a:ln>
                  <a:noFill/>
                </a:ln>
                <a:solidFill>
                  <a:schemeClr val="accent4">
                    <a:lumMod val="50000"/>
                  </a:schemeClr>
                </a:solidFill>
                <a:effectLst/>
              </a:rPr>
              <a:t>(</a:t>
            </a:r>
            <a:r>
              <a:rPr kumimoji="0" lang="en-US" altLang="ar-EG" sz="1500" b="0" i="0" u="none" strike="noStrike" cap="none" normalizeH="0" baseline="0" dirty="0">
                <a:ln>
                  <a:noFill/>
                </a:ln>
                <a:solidFill>
                  <a:schemeClr val="accent4">
                    <a:lumMod val="50000"/>
                  </a:schemeClr>
                </a:solidFill>
                <a:effectLst/>
              </a:rPr>
              <a:t>.</a:t>
            </a:r>
            <a:endParaRPr kumimoji="0" lang="ar-EG" altLang="ar-EG" sz="1500" b="0" i="0" u="none" strike="noStrike" cap="none" normalizeH="0" baseline="0" dirty="0">
              <a:ln>
                <a:noFill/>
              </a:ln>
              <a:solidFill>
                <a:schemeClr val="accent4">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pPr>
            <a:endParaRPr kumimoji="0" lang="ar-EG" altLang="ar-EG"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ar-EG" altLang="ar-EG" sz="1600" b="1" i="0" u="none" strike="noStrike" cap="none" normalizeH="0" baseline="0" dirty="0">
                <a:ln>
                  <a:noFill/>
                </a:ln>
                <a:solidFill>
                  <a:srgbClr val="047954"/>
                </a:solidFill>
                <a:effectLst/>
                <a:latin typeface="Arial" panose="020B0604020202020204" pitchFamily="34" charset="0"/>
              </a:rPr>
              <a:t>API </a:t>
            </a:r>
            <a:r>
              <a:rPr kumimoji="0" lang="ar-EG" altLang="ar-EG" sz="1600" b="1" i="0" u="none" strike="noStrike" cap="none" normalizeH="0" baseline="0" dirty="0" err="1">
                <a:ln>
                  <a:noFill/>
                </a:ln>
                <a:solidFill>
                  <a:srgbClr val="047954"/>
                </a:solidFill>
                <a:effectLst/>
                <a:latin typeface="Arial" panose="020B0604020202020204" pitchFamily="34" charset="0"/>
              </a:rPr>
              <a:t>Documentation</a:t>
            </a:r>
            <a:r>
              <a:rPr kumimoji="0" lang="ar-EG" altLang="ar-EG" sz="1600" b="1" i="0" u="none" strike="noStrike" cap="none" normalizeH="0" baseline="0" dirty="0">
                <a:ln>
                  <a:noFill/>
                </a:ln>
                <a:solidFill>
                  <a:srgbClr val="047954"/>
                </a:solidFill>
                <a:effectLst/>
                <a:latin typeface="Arial" panose="020B0604020202020204" pitchFamily="34" charset="0"/>
              </a:rPr>
              <a:t>:</a:t>
            </a:r>
            <a:r>
              <a:rPr kumimoji="0" lang="ar-EG" altLang="ar-EG" sz="1600" b="0" i="0" u="none" strike="noStrike" cap="none" normalizeH="0" baseline="0" dirty="0">
                <a:ln>
                  <a:noFill/>
                </a:ln>
                <a:solidFill>
                  <a:srgbClr val="047954"/>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Detailed</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usage</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of</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err="1">
                <a:ln>
                  <a:noFill/>
                </a:ln>
                <a:solidFill>
                  <a:schemeClr val="accent4">
                    <a:lumMod val="50000"/>
                  </a:schemeClr>
                </a:solidFill>
                <a:effectLst/>
                <a:latin typeface="Arial" panose="020B0604020202020204" pitchFamily="34" charset="0"/>
              </a:rPr>
              <a:t>endpoints</a:t>
            </a:r>
            <a:r>
              <a:rPr kumimoji="0" lang="ar-EG" altLang="ar-EG" sz="1500" b="0" i="0" u="none" strike="noStrike" cap="none" normalizeH="0" baseline="0" dirty="0">
                <a:ln>
                  <a:noFill/>
                </a:ln>
                <a:solidFill>
                  <a:schemeClr val="accent4">
                    <a:lumMod val="50000"/>
                  </a:schemeClr>
                </a:solidFill>
                <a:effectLst/>
                <a:latin typeface="Arial" panose="020B0604020202020204" pitchFamily="34" charset="0"/>
              </a:rPr>
              <a:t> )</a:t>
            </a:r>
            <a:r>
              <a:rPr kumimoji="0" lang="ar-EG" altLang="ar-EG" sz="1500" b="0" i="0" u="none" strike="noStrike" cap="none" normalizeH="0" baseline="0" dirty="0">
                <a:ln>
                  <a:noFill/>
                </a:ln>
                <a:solidFill>
                  <a:schemeClr val="accent4">
                    <a:lumMod val="50000"/>
                  </a:schemeClr>
                </a:solidFill>
                <a:effectLst/>
                <a:latin typeface="Arial Unicode MS"/>
              </a:rPr>
              <a:t>POST /</a:t>
            </a:r>
            <a:r>
              <a:rPr kumimoji="0" lang="ar-EG" altLang="ar-EG" sz="1500" b="0" i="0" u="none" strike="noStrike" cap="none" normalizeH="0" baseline="0" dirty="0" err="1">
                <a:ln>
                  <a:noFill/>
                </a:ln>
                <a:solidFill>
                  <a:schemeClr val="accent4">
                    <a:lumMod val="50000"/>
                  </a:schemeClr>
                </a:solidFill>
                <a:effectLst/>
                <a:latin typeface="Arial Unicode MS"/>
              </a:rPr>
              <a:t>short</a:t>
            </a:r>
            <a:r>
              <a:rPr kumimoji="0" lang="ar-EG"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a:ln>
                  <a:noFill/>
                </a:ln>
                <a:solidFill>
                  <a:schemeClr val="accent4">
                    <a:lumMod val="50000"/>
                  </a:schemeClr>
                </a:solidFill>
                <a:effectLst/>
                <a:latin typeface="Arial Unicode MS"/>
              </a:rPr>
              <a:t>GET /</a:t>
            </a:r>
            <a:r>
              <a:rPr kumimoji="0" lang="ar-EG" altLang="ar-EG" sz="1500" b="0" i="0" u="none" strike="noStrike" cap="none" normalizeH="0" baseline="0" dirty="0" err="1">
                <a:ln>
                  <a:noFill/>
                </a:ln>
                <a:solidFill>
                  <a:schemeClr val="accent4">
                    <a:lumMod val="50000"/>
                  </a:schemeClr>
                </a:solidFill>
                <a:effectLst/>
                <a:latin typeface="Arial Unicode MS"/>
              </a:rPr>
              <a:t>routes</a:t>
            </a:r>
            <a:r>
              <a:rPr kumimoji="0" lang="ar-EG" altLang="ar-EG" sz="1500" b="0" i="0" u="none" strike="noStrike" cap="none" normalizeH="0" baseline="0" dirty="0">
                <a:ln>
                  <a:noFill/>
                </a:ln>
                <a:solidFill>
                  <a:schemeClr val="accent4">
                    <a:lumMod val="50000"/>
                  </a:schemeClr>
                </a:solidFill>
                <a:effectLst/>
              </a:rPr>
              <a:t>, </a:t>
            </a:r>
            <a:r>
              <a:rPr kumimoji="0" lang="ar-EG" altLang="ar-EG" sz="1500" b="0" i="0" u="none" strike="noStrike" cap="none" normalizeH="0" baseline="0" dirty="0">
                <a:ln>
                  <a:noFill/>
                </a:ln>
                <a:solidFill>
                  <a:schemeClr val="accent4">
                    <a:lumMod val="50000"/>
                  </a:schemeClr>
                </a:solidFill>
                <a:effectLst/>
                <a:latin typeface="Arial Unicode MS"/>
              </a:rPr>
              <a:t>GET /</a:t>
            </a:r>
            <a:r>
              <a:rPr kumimoji="0" lang="ar-EG" altLang="ar-EG" sz="1500" b="0" i="0" u="none" strike="noStrike" cap="none" normalizeH="0" baseline="0" dirty="0" err="1">
                <a:ln>
                  <a:noFill/>
                </a:ln>
                <a:solidFill>
                  <a:schemeClr val="accent4">
                    <a:lumMod val="50000"/>
                  </a:schemeClr>
                </a:solidFill>
                <a:effectLst/>
                <a:latin typeface="Arial Unicode MS"/>
              </a:rPr>
              <a:t>metrics</a:t>
            </a:r>
            <a:r>
              <a:rPr kumimoji="0" lang="ar-EG" altLang="ar-EG" sz="1500" b="0" i="0" u="none" strike="noStrike" cap="none" normalizeH="0" baseline="0" dirty="0">
                <a:ln>
                  <a:noFill/>
                </a:ln>
                <a:solidFill>
                  <a:schemeClr val="accent4">
                    <a:lumMod val="50000"/>
                  </a:schemeClr>
                </a:solidFill>
                <a:effectLst/>
              </a:rPr>
              <a:t>(</a:t>
            </a:r>
            <a:r>
              <a:rPr kumimoji="0" lang="en-US" altLang="ar-EG" sz="1500" b="0" i="0" u="none" strike="noStrike" cap="none" normalizeH="0" baseline="0" dirty="0">
                <a:ln>
                  <a:noFill/>
                </a:ln>
                <a:solidFill>
                  <a:schemeClr val="accent4">
                    <a:lumMod val="50000"/>
                  </a:schemeClr>
                </a:solidFill>
                <a:effectLst/>
              </a:rPr>
              <a:t>.</a:t>
            </a:r>
            <a:endParaRPr kumimoji="0" lang="ar-EG" altLang="ar-EG" sz="1500" b="0" i="0" u="none" strike="noStrike" cap="none" normalizeH="0" baseline="0" dirty="0">
              <a:ln>
                <a:noFill/>
              </a:ln>
              <a:solidFill>
                <a:schemeClr val="accent4">
                  <a:lumMod val="50000"/>
                </a:schemeClr>
              </a:solidFill>
              <a:effectLst/>
              <a:latin typeface="Arial" panose="020B0604020202020204" pitchFamily="34" charset="0"/>
            </a:endParaRPr>
          </a:p>
        </p:txBody>
      </p:sp>
      <p:sp>
        <p:nvSpPr>
          <p:cNvPr id="6" name="Rectangle 2"/>
          <p:cNvSpPr>
            <a:spLocks noChangeArrowheads="1"/>
          </p:cNvSpPr>
          <p:nvPr/>
        </p:nvSpPr>
        <p:spPr bwMode="auto">
          <a:xfrm>
            <a:off x="1231271" y="3238877"/>
            <a:ext cx="44101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ar-EG" altLang="ar-EG" sz="3000" b="0" i="0" u="none" strike="noStrike" cap="none" normalizeH="0" baseline="0" dirty="0" err="1">
                <a:ln>
                  <a:noFill/>
                </a:ln>
                <a:solidFill>
                  <a:srgbClr val="336EA8"/>
                </a:solidFill>
                <a:effectLst/>
                <a:latin typeface="Arial" panose="020B0604020202020204" pitchFamily="34" charset="0"/>
              </a:rPr>
              <a:t>Timeline</a:t>
            </a:r>
            <a:r>
              <a:rPr kumimoji="0" lang="ar-EG" altLang="ar-EG" sz="3000" b="0" i="0" u="none" strike="noStrike" cap="none" normalizeH="0" baseline="0" dirty="0">
                <a:ln>
                  <a:noFill/>
                </a:ln>
                <a:solidFill>
                  <a:srgbClr val="336EA8"/>
                </a:solidFill>
                <a:effectLst/>
                <a:latin typeface="Arial" panose="020B0604020202020204" pitchFamily="34" charset="0"/>
              </a:rPr>
              <a:t> </a:t>
            </a:r>
            <a:r>
              <a:rPr kumimoji="0" lang="ar-EG" altLang="ar-EG" sz="3000" b="0" i="0" u="none" strike="noStrike" cap="none" normalizeH="0" baseline="0" dirty="0" err="1">
                <a:ln>
                  <a:noFill/>
                </a:ln>
                <a:solidFill>
                  <a:srgbClr val="336EA8"/>
                </a:solidFill>
                <a:effectLst/>
                <a:latin typeface="Arial" panose="020B0604020202020204" pitchFamily="34" charset="0"/>
              </a:rPr>
              <a:t>for</a:t>
            </a:r>
            <a:r>
              <a:rPr kumimoji="0" lang="ar-EG" altLang="ar-EG" sz="3000" b="0" i="0" u="none" strike="noStrike" cap="none" normalizeH="0" baseline="0" dirty="0">
                <a:ln>
                  <a:noFill/>
                </a:ln>
                <a:solidFill>
                  <a:srgbClr val="336EA8"/>
                </a:solidFill>
                <a:effectLst/>
                <a:latin typeface="Arial" panose="020B0604020202020204" pitchFamily="34" charset="0"/>
              </a:rPr>
              <a:t> </a:t>
            </a:r>
            <a:r>
              <a:rPr kumimoji="0" lang="ar-EG" altLang="ar-EG" sz="3000" b="0" i="0" u="none" strike="noStrike" cap="none" normalizeH="0" baseline="0" dirty="0" err="1">
                <a:ln>
                  <a:noFill/>
                </a:ln>
                <a:solidFill>
                  <a:srgbClr val="336EA8"/>
                </a:solidFill>
                <a:effectLst/>
                <a:latin typeface="Arial" panose="020B0604020202020204" pitchFamily="34" charset="0"/>
              </a:rPr>
              <a:t>Deliverables</a:t>
            </a:r>
            <a:endParaRPr lang="ar-EG" altLang="ar-EG" sz="3000" i="1" dirty="0">
              <a:solidFill>
                <a:srgbClr val="336EA8"/>
              </a:solidFill>
              <a:latin typeface="Arial" panose="020B0604020202020204" pitchFamily="34" charset="0"/>
            </a:endParaRPr>
          </a:p>
        </p:txBody>
      </p:sp>
      <p:sp>
        <p:nvSpPr>
          <p:cNvPr id="8" name="TextBox 7"/>
          <p:cNvSpPr txBox="1"/>
          <p:nvPr/>
        </p:nvSpPr>
        <p:spPr>
          <a:xfrm>
            <a:off x="1415458" y="3801928"/>
            <a:ext cx="7121960" cy="2200602"/>
          </a:xfrm>
          <a:prstGeom prst="rect">
            <a:avLst/>
          </a:prstGeom>
          <a:noFill/>
        </p:spPr>
        <p:txBody>
          <a:bodyPr wrap="square">
            <a:spAutoFit/>
          </a:bodyPr>
          <a:lstStyle/>
          <a:p>
            <a:pPr>
              <a:buFont typeface="Arial" panose="020B0604020202020204" pitchFamily="34" charset="0"/>
              <a:buChar char="•"/>
            </a:pPr>
            <a:r>
              <a:rPr lang="en-US" sz="1600" b="1" dirty="0"/>
              <a:t>Phase 1</a:t>
            </a:r>
            <a:r>
              <a:rPr lang="en-US" b="1" dirty="0"/>
              <a:t>:</a:t>
            </a:r>
            <a:r>
              <a:rPr lang="en-US" dirty="0"/>
              <a:t> </a:t>
            </a:r>
            <a:r>
              <a:rPr lang="en-US" sz="1500" dirty="0">
                <a:solidFill>
                  <a:srgbClr val="047954"/>
                </a:solidFill>
              </a:rPr>
              <a:t>System Architecture &amp; Database Design (SQLite Schema)</a:t>
            </a:r>
            <a:endParaRPr lang="en-US" sz="1500" dirty="0">
              <a:solidFill>
                <a:srgbClr val="047954"/>
              </a:solidFill>
            </a:endParaRPr>
          </a:p>
          <a:p>
            <a:endParaRPr lang="en-US" sz="1500" dirty="0">
              <a:solidFill>
                <a:srgbClr val="047954"/>
              </a:solidFill>
            </a:endParaRPr>
          </a:p>
          <a:p>
            <a:pPr>
              <a:buFont typeface="Arial" panose="020B0604020202020204" pitchFamily="34" charset="0"/>
              <a:buChar char="•"/>
            </a:pPr>
            <a:r>
              <a:rPr lang="en-US" sz="1600" b="1" dirty="0"/>
              <a:t>Phase 2</a:t>
            </a:r>
            <a:r>
              <a:rPr lang="en-US" sz="1500" b="1" dirty="0"/>
              <a:t>:</a:t>
            </a:r>
            <a:r>
              <a:rPr lang="en-US" sz="1500" dirty="0"/>
              <a:t> </a:t>
            </a:r>
            <a:r>
              <a:rPr lang="en-US" sz="1500" dirty="0">
                <a:solidFill>
                  <a:srgbClr val="047954"/>
                </a:solidFill>
              </a:rPr>
              <a:t>Backend Development (Express.js APIs &amp; Logic)</a:t>
            </a:r>
            <a:endParaRPr lang="en-US" sz="1500" dirty="0">
              <a:solidFill>
                <a:srgbClr val="047954"/>
              </a:solidFill>
            </a:endParaRPr>
          </a:p>
          <a:p>
            <a:endParaRPr lang="en-US" dirty="0">
              <a:solidFill>
                <a:srgbClr val="047954"/>
              </a:solidFill>
            </a:endParaRPr>
          </a:p>
          <a:p>
            <a:pPr>
              <a:buFont typeface="Arial" panose="020B0604020202020204" pitchFamily="34" charset="0"/>
              <a:buChar char="•"/>
            </a:pPr>
            <a:r>
              <a:rPr lang="en-US" sz="1600" b="1" dirty="0"/>
              <a:t>Phase 3</a:t>
            </a:r>
            <a:r>
              <a:rPr lang="en-US" b="1" dirty="0"/>
              <a:t>:</a:t>
            </a:r>
            <a:r>
              <a:rPr lang="en-US" dirty="0"/>
              <a:t> </a:t>
            </a:r>
            <a:r>
              <a:rPr lang="en-US" sz="1500" dirty="0">
                <a:solidFill>
                  <a:srgbClr val="047954"/>
                </a:solidFill>
              </a:rPr>
              <a:t>Containerization (Docker &amp; Docker Compose setup)</a:t>
            </a:r>
            <a:endParaRPr lang="en-US" sz="1500" dirty="0">
              <a:solidFill>
                <a:srgbClr val="047954"/>
              </a:solidFill>
            </a:endParaRPr>
          </a:p>
          <a:p>
            <a:pPr>
              <a:buFont typeface="Arial" panose="020B0604020202020204" pitchFamily="34" charset="0"/>
              <a:buChar char="•"/>
            </a:pPr>
            <a:endParaRPr lang="en-US" dirty="0"/>
          </a:p>
          <a:p>
            <a:pPr>
              <a:buFont typeface="Arial" panose="020B0604020202020204" pitchFamily="34" charset="0"/>
              <a:buChar char="•"/>
            </a:pPr>
            <a:r>
              <a:rPr lang="en-US" sz="1600" b="1" dirty="0"/>
              <a:t>Phase 4</a:t>
            </a:r>
            <a:r>
              <a:rPr lang="en-US" b="1" dirty="0"/>
              <a:t>:</a:t>
            </a:r>
            <a:r>
              <a:rPr lang="en-US" dirty="0"/>
              <a:t> </a:t>
            </a:r>
            <a:r>
              <a:rPr lang="en-US" sz="1500" dirty="0">
                <a:solidFill>
                  <a:srgbClr val="047954"/>
                </a:solidFill>
              </a:rPr>
              <a:t>Monitoring Integration (Prometheus metrics &amp; Grafana Dashboards)</a:t>
            </a:r>
            <a:endParaRPr lang="en-US" sz="1500" dirty="0">
              <a:solidFill>
                <a:srgbClr val="047954"/>
              </a:solidFill>
            </a:endParaRPr>
          </a:p>
          <a:p>
            <a:pPr>
              <a:buFont typeface="Arial" panose="020B0604020202020204" pitchFamily="34" charset="0"/>
              <a:buChar char="•"/>
            </a:pPr>
            <a:endParaRPr lang="en-US" dirty="0"/>
          </a:p>
          <a:p>
            <a:pPr>
              <a:buFont typeface="Arial" panose="020B0604020202020204" pitchFamily="34" charset="0"/>
              <a:buChar char="•"/>
            </a:pPr>
            <a:r>
              <a:rPr lang="en-US" sz="1600" b="1" dirty="0"/>
              <a:t>Phase 5</a:t>
            </a:r>
            <a:r>
              <a:rPr lang="en-US" b="1" dirty="0"/>
              <a:t>:</a:t>
            </a:r>
            <a:r>
              <a:rPr lang="en-US" dirty="0"/>
              <a:t> </a:t>
            </a:r>
            <a:r>
              <a:rPr lang="en-US" sz="1500" dirty="0">
                <a:solidFill>
                  <a:srgbClr val="047954"/>
                </a:solidFill>
              </a:rPr>
              <a:t>Final Testing, Alerts Configuration, and Documentation</a:t>
            </a:r>
            <a:endParaRPr lang="en-US" sz="1500" dirty="0">
              <a:solidFill>
                <a:srgbClr val="047954"/>
              </a:solidFill>
            </a:endParaRPr>
          </a:p>
        </p:txBody>
      </p:sp>
      <p:sp>
        <p:nvSpPr>
          <p:cNvPr id="12" name="TextBox 11"/>
          <p:cNvSpPr txBox="1"/>
          <p:nvPr/>
        </p:nvSpPr>
        <p:spPr>
          <a:xfrm>
            <a:off x="-880449" y="6385023"/>
            <a:ext cx="6097508" cy="307777"/>
          </a:xfrm>
          <a:prstGeom prst="rect">
            <a:avLst/>
          </a:prstGeom>
          <a:noFill/>
        </p:spPr>
        <p:txBody>
          <a:bodyPr wrap="square">
            <a:spAutoFit/>
          </a:bodyPr>
          <a:lstStyle/>
          <a:p>
            <a:pPr marL="0" lvl="0" indent="0" algn="ctr" rtl="0">
              <a:spcBef>
                <a:spcPts val="0"/>
              </a:spcBef>
              <a:spcAft>
                <a:spcPts val="0"/>
              </a:spcAft>
              <a:buNone/>
            </a:pPr>
            <a:r>
              <a:rPr lang="en-US" dirty="0">
                <a:solidFill>
                  <a:schemeClr val="bg1"/>
                </a:solidFill>
              </a:rPr>
              <a:t>10/14/24</a:t>
            </a:r>
            <a:endParaRPr lang="en-US"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4110" y="516048"/>
            <a:ext cx="2625505" cy="540425"/>
          </a:xfrm>
        </p:spPr>
        <p:txBody>
          <a:bodyPr>
            <a:normAutofit/>
          </a:bodyPr>
          <a:lstStyle/>
          <a:p>
            <a:r>
              <a:rPr lang="en-US" sz="3000" dirty="0">
                <a:solidFill>
                  <a:srgbClr val="336EA8"/>
                </a:solidFill>
              </a:rPr>
              <a:t>Final Products :</a:t>
            </a:r>
            <a:endParaRPr lang="ar-EG" sz="3000" dirty="0">
              <a:solidFill>
                <a:srgbClr val="336EA8"/>
              </a:solidFill>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5" name="Rectangle 1"/>
          <p:cNvSpPr>
            <a:spLocks noGrp="1" noChangeArrowheads="1"/>
          </p:cNvSpPr>
          <p:nvPr>
            <p:ph type="subTitle" idx="1"/>
          </p:nvPr>
        </p:nvSpPr>
        <p:spPr bwMode="auto">
          <a:xfrm>
            <a:off x="1204110" y="3010746"/>
            <a:ext cx="42434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lvl="0" indent="0" algn="l" eaLnBrk="0" fontAlgn="base" hangingPunct="0">
              <a:lnSpc>
                <a:spcPct val="100000"/>
              </a:lnSpc>
              <a:spcBef>
                <a:spcPct val="0"/>
              </a:spcBef>
              <a:spcAft>
                <a:spcPct val="0"/>
              </a:spcAft>
              <a:buClrTx/>
              <a:buSzTx/>
            </a:pPr>
            <a:r>
              <a:rPr lang="en-US" sz="3200" dirty="0">
                <a:solidFill>
                  <a:srgbClr val="336EA8"/>
                </a:solidFill>
              </a:rPr>
              <a:t>Collaboration Methods :</a:t>
            </a:r>
            <a:endParaRPr kumimoji="0" lang="ar-EG" altLang="ar-EG" sz="3000" b="0" i="0" u="none" strike="noStrike" cap="none" normalizeH="0" baseline="0" dirty="0">
              <a:ln>
                <a:noFill/>
              </a:ln>
              <a:solidFill>
                <a:srgbClr val="336EA8"/>
              </a:solidFill>
              <a:effectLst/>
              <a:latin typeface="Arial" panose="020B0604020202020204" pitchFamily="34" charset="0"/>
            </a:endParaRPr>
          </a:p>
        </p:txBody>
      </p:sp>
      <p:sp>
        <p:nvSpPr>
          <p:cNvPr id="7" name="TextBox 6"/>
          <p:cNvSpPr txBox="1"/>
          <p:nvPr/>
        </p:nvSpPr>
        <p:spPr>
          <a:xfrm>
            <a:off x="1204110" y="1056473"/>
            <a:ext cx="7831248" cy="13450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rgbClr val="047954"/>
                </a:solidFill>
              </a:rPr>
              <a:t>Containerized Web Service:</a:t>
            </a:r>
            <a:r>
              <a:rPr lang="en-US" dirty="0"/>
              <a:t> A fully functional URL shortener running in Docker.</a:t>
            </a:r>
            <a:endParaRPr lang="en-US" dirty="0"/>
          </a:p>
          <a:p>
            <a:pPr marL="285750" indent="-285750">
              <a:lnSpc>
                <a:spcPct val="150000"/>
              </a:lnSpc>
              <a:buFont typeface="Arial" panose="020B0604020202020204" pitchFamily="34" charset="0"/>
              <a:buChar char="•"/>
            </a:pPr>
            <a:r>
              <a:rPr lang="en-US" b="1" dirty="0">
                <a:solidFill>
                  <a:srgbClr val="047954"/>
                </a:solidFill>
              </a:rPr>
              <a:t>Monitoring Suite:</a:t>
            </a:r>
            <a:r>
              <a:rPr lang="en-US" dirty="0">
                <a:solidFill>
                  <a:srgbClr val="047954"/>
                </a:solidFill>
              </a:rPr>
              <a:t> </a:t>
            </a:r>
            <a:r>
              <a:rPr lang="en-US" dirty="0"/>
              <a:t>Integrated Prometheus and Grafana instances with real-time dashboards.</a:t>
            </a:r>
            <a:endParaRPr lang="en-US" dirty="0"/>
          </a:p>
          <a:p>
            <a:pPr marL="285750" indent="-285750">
              <a:lnSpc>
                <a:spcPct val="150000"/>
              </a:lnSpc>
              <a:buFont typeface="Arial" panose="020B0604020202020204" pitchFamily="34" charset="0"/>
              <a:buChar char="•"/>
            </a:pPr>
            <a:r>
              <a:rPr lang="en-US" b="1" dirty="0">
                <a:solidFill>
                  <a:srgbClr val="047954"/>
                </a:solidFill>
              </a:rPr>
              <a:t>Persistent Data Layer:</a:t>
            </a:r>
            <a:r>
              <a:rPr lang="en-US" dirty="0">
                <a:solidFill>
                  <a:srgbClr val="047954"/>
                </a:solidFill>
              </a:rPr>
              <a:t> </a:t>
            </a:r>
            <a:r>
              <a:rPr lang="en-US" dirty="0"/>
              <a:t>Docker volumes configured for </a:t>
            </a:r>
            <a:r>
              <a:rPr lang="en-US" dirty="0" err="1"/>
              <a:t>db_data</a:t>
            </a:r>
            <a:r>
              <a:rPr lang="en-US" dirty="0"/>
              <a:t>, </a:t>
            </a:r>
            <a:r>
              <a:rPr lang="en-US" dirty="0" err="1"/>
              <a:t>prometheus_data</a:t>
            </a:r>
            <a:r>
              <a:rPr lang="en-US" dirty="0"/>
              <a:t>, and        </a:t>
            </a:r>
            <a:r>
              <a:rPr lang="en-US" dirty="0" err="1"/>
              <a:t>grafana_data</a:t>
            </a:r>
            <a:r>
              <a:rPr lang="en-US" dirty="0"/>
              <a:t>.</a:t>
            </a:r>
            <a:endParaRPr lang="en-US" dirty="0"/>
          </a:p>
        </p:txBody>
      </p:sp>
      <p:sp>
        <p:nvSpPr>
          <p:cNvPr id="12" name="TextBox 11"/>
          <p:cNvSpPr txBox="1"/>
          <p:nvPr/>
        </p:nvSpPr>
        <p:spPr>
          <a:xfrm>
            <a:off x="-907609" y="6385023"/>
            <a:ext cx="6097508" cy="307777"/>
          </a:xfrm>
          <a:prstGeom prst="rect">
            <a:avLst/>
          </a:prstGeom>
          <a:noFill/>
        </p:spPr>
        <p:txBody>
          <a:bodyPr wrap="square">
            <a:spAutoFit/>
          </a:bodyPr>
          <a:lstStyle/>
          <a:p>
            <a:pPr marL="0" lvl="0" indent="0" algn="ctr" rtl="0">
              <a:spcBef>
                <a:spcPts val="0"/>
              </a:spcBef>
              <a:spcAft>
                <a:spcPts val="0"/>
              </a:spcAft>
              <a:buNone/>
            </a:pPr>
            <a:r>
              <a:rPr lang="en-US" dirty="0">
                <a:solidFill>
                  <a:schemeClr val="bg1"/>
                </a:solidFill>
              </a:rPr>
              <a:t>10/14/24</a:t>
            </a:r>
            <a:endParaRPr lang="en-US" dirty="0">
              <a:solidFill>
                <a:schemeClr val="bg1"/>
              </a:solidFill>
            </a:endParaRPr>
          </a:p>
        </p:txBody>
      </p:sp>
      <p:sp>
        <p:nvSpPr>
          <p:cNvPr id="14" name="TextBox 13"/>
          <p:cNvSpPr txBox="1"/>
          <p:nvPr/>
        </p:nvSpPr>
        <p:spPr>
          <a:xfrm>
            <a:off x="1419131" y="3801598"/>
            <a:ext cx="6550182" cy="1154675"/>
          </a:xfrm>
          <a:prstGeom prst="rect">
            <a:avLst/>
          </a:prstGeom>
          <a:noFill/>
        </p:spPr>
        <p:txBody>
          <a:bodyPr wrap="square">
            <a:spAutoFit/>
          </a:bodyPr>
          <a:lstStyle/>
          <a:p>
            <a:pPr>
              <a:lnSpc>
                <a:spcPct val="150000"/>
              </a:lnSpc>
              <a:buFont typeface="Arial" panose="020B0604020202020204" pitchFamily="34" charset="0"/>
              <a:buChar char="•"/>
            </a:pPr>
            <a:r>
              <a:rPr lang="en-US" sz="1600" b="1" dirty="0"/>
              <a:t>  </a:t>
            </a:r>
            <a:r>
              <a:rPr lang="en-US" sz="1600" b="1" dirty="0">
                <a:solidFill>
                  <a:srgbClr val="047954"/>
                </a:solidFill>
              </a:rPr>
              <a:t>Version Control</a:t>
            </a:r>
            <a:r>
              <a:rPr lang="en-US" sz="1600" b="1" dirty="0"/>
              <a:t>:</a:t>
            </a:r>
            <a:r>
              <a:rPr lang="en-US" sz="1600" dirty="0"/>
              <a:t> Used </a:t>
            </a:r>
            <a:r>
              <a:rPr lang="en-US" sz="1600" b="1" dirty="0"/>
              <a:t>Git &amp; GitHub</a:t>
            </a:r>
            <a:r>
              <a:rPr lang="en-US" sz="1600" dirty="0"/>
              <a:t> for code management.</a:t>
            </a:r>
            <a:endParaRPr lang="en-US" sz="1600" dirty="0"/>
          </a:p>
          <a:p>
            <a:pPr>
              <a:lnSpc>
                <a:spcPct val="150000"/>
              </a:lnSpc>
              <a:buFont typeface="Arial" panose="020B0604020202020204" pitchFamily="34" charset="0"/>
              <a:buChar char="•"/>
            </a:pPr>
            <a:r>
              <a:rPr lang="en-US" sz="1600" b="1" dirty="0"/>
              <a:t>  </a:t>
            </a:r>
            <a:r>
              <a:rPr lang="en-US" sz="1600" b="1" dirty="0">
                <a:solidFill>
                  <a:srgbClr val="047954"/>
                </a:solidFill>
              </a:rPr>
              <a:t>Communication</a:t>
            </a:r>
            <a:r>
              <a:rPr lang="en-US" sz="1600" b="1" dirty="0"/>
              <a:t>:</a:t>
            </a:r>
            <a:r>
              <a:rPr lang="en-US" sz="1600" dirty="0"/>
              <a:t> Weekly meetings to track progress.</a:t>
            </a:r>
            <a:endParaRPr lang="en-US" sz="1600" dirty="0"/>
          </a:p>
          <a:p>
            <a:pPr>
              <a:lnSpc>
                <a:spcPct val="150000"/>
              </a:lnSpc>
              <a:buFont typeface="Arial" panose="020B0604020202020204" pitchFamily="34" charset="0"/>
              <a:buChar char="•"/>
            </a:pPr>
            <a:r>
              <a:rPr lang="en-US" sz="1600" b="1" dirty="0"/>
              <a:t>  </a:t>
            </a:r>
            <a:r>
              <a:rPr lang="en-US" sz="1600" b="1" dirty="0">
                <a:solidFill>
                  <a:srgbClr val="047954"/>
                </a:solidFill>
              </a:rPr>
              <a:t>Methodology</a:t>
            </a:r>
            <a:r>
              <a:rPr lang="en-US" sz="1600" b="1" dirty="0"/>
              <a:t>:</a:t>
            </a:r>
            <a:r>
              <a:rPr lang="en-US" sz="1600" dirty="0"/>
              <a:t> Followed </a:t>
            </a:r>
            <a:r>
              <a:rPr lang="en-US" sz="1600" b="1" dirty="0"/>
              <a:t>Agile principles</a:t>
            </a:r>
            <a:r>
              <a:rPr lang="en-US" sz="1600" dirty="0"/>
              <a:t> for incremental delivery.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0613" y="525101"/>
            <a:ext cx="4517679" cy="588475"/>
          </a:xfrm>
        </p:spPr>
        <p:txBody>
          <a:bodyPr>
            <a:noAutofit/>
          </a:bodyPr>
          <a:lstStyle/>
          <a:p>
            <a:r>
              <a:rPr lang="en-US" sz="3200" dirty="0">
                <a:solidFill>
                  <a:srgbClr val="336EA8"/>
                </a:solidFill>
              </a:rPr>
              <a:t>Project Team + Roles :</a:t>
            </a:r>
            <a:endParaRPr lang="ar-EG" sz="32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6" name="TextBox 5"/>
          <p:cNvSpPr txBox="1"/>
          <p:nvPr/>
        </p:nvSpPr>
        <p:spPr>
          <a:xfrm>
            <a:off x="1373865" y="1351508"/>
            <a:ext cx="6502650" cy="4154984"/>
          </a:xfrm>
          <a:prstGeom prst="rect">
            <a:avLst/>
          </a:prstGeom>
          <a:noFill/>
        </p:spPr>
        <p:txBody>
          <a:bodyPr wrap="square">
            <a:spAutoFit/>
          </a:bodyPr>
          <a:lstStyle/>
          <a:p>
            <a:pPr>
              <a:lnSpc>
                <a:spcPct val="150000"/>
              </a:lnSpc>
              <a:buFont typeface="Arial" panose="020B0604020202020204" pitchFamily="34" charset="0"/>
              <a:buChar char="•"/>
            </a:pPr>
            <a:r>
              <a:rPr lang="en-US" b="1" dirty="0"/>
              <a:t> </a:t>
            </a:r>
            <a:r>
              <a:rPr lang="en-US" sz="1600" b="1" dirty="0"/>
              <a:t>Mohamed Adel &amp; Ziad Mahmoud: Full Stack Developers</a:t>
            </a:r>
            <a:endParaRPr lang="en-US" sz="1600" dirty="0"/>
          </a:p>
          <a:p>
            <a:pPr marL="742950" lvl="1" indent="-285750">
              <a:lnSpc>
                <a:spcPct val="150000"/>
              </a:lnSpc>
              <a:buFont typeface="Arial" panose="020B0604020202020204" pitchFamily="34" charset="0"/>
              <a:buChar char="•"/>
            </a:pPr>
            <a:r>
              <a:rPr lang="en-US" sz="1600" dirty="0">
                <a:solidFill>
                  <a:srgbClr val="047954"/>
                </a:solidFill>
              </a:rPr>
              <a:t>Developed the </a:t>
            </a:r>
            <a:r>
              <a:rPr lang="en-US" sz="1600" b="1" dirty="0">
                <a:solidFill>
                  <a:srgbClr val="047954"/>
                </a:solidFill>
              </a:rPr>
              <a:t>Frontend</a:t>
            </a:r>
            <a:r>
              <a:rPr lang="en-US" sz="1600" dirty="0">
                <a:solidFill>
                  <a:srgbClr val="047954"/>
                </a:solidFill>
              </a:rPr>
              <a:t> (UI/UX) using HTML/CSS &amp; EJS.</a:t>
            </a:r>
            <a:endParaRPr lang="en-US" sz="1600" dirty="0">
              <a:solidFill>
                <a:srgbClr val="047954"/>
              </a:solidFill>
            </a:endParaRPr>
          </a:p>
          <a:p>
            <a:pPr marL="742950" lvl="1" indent="-285750">
              <a:buFont typeface="Arial" panose="020B0604020202020204" pitchFamily="34" charset="0"/>
              <a:buChar char="•"/>
            </a:pPr>
            <a:r>
              <a:rPr lang="en-US" sz="1600" dirty="0">
                <a:solidFill>
                  <a:srgbClr val="047954"/>
                </a:solidFill>
              </a:rPr>
              <a:t>Built the </a:t>
            </a:r>
            <a:r>
              <a:rPr lang="en-US" sz="1600" b="1" dirty="0">
                <a:solidFill>
                  <a:srgbClr val="047954"/>
                </a:solidFill>
              </a:rPr>
              <a:t>Backend</a:t>
            </a:r>
            <a:r>
              <a:rPr lang="en-US" sz="1600" dirty="0">
                <a:solidFill>
                  <a:srgbClr val="047954"/>
                </a:solidFill>
              </a:rPr>
              <a:t> logic and APIs using </a:t>
            </a:r>
            <a:r>
              <a:rPr lang="en-US" sz="1600" b="1" dirty="0">
                <a:solidFill>
                  <a:srgbClr val="047954"/>
                </a:solidFill>
              </a:rPr>
              <a:t>Express.js</a:t>
            </a:r>
            <a:r>
              <a:rPr lang="en-US" sz="1600" dirty="0">
                <a:solidFill>
                  <a:srgbClr val="047954"/>
                </a:solidFill>
              </a:rPr>
              <a:t> &amp; </a:t>
            </a:r>
            <a:r>
              <a:rPr lang="en-US" sz="1600" b="1" dirty="0">
                <a:solidFill>
                  <a:srgbClr val="047954"/>
                </a:solidFill>
              </a:rPr>
              <a:t>SQLite</a:t>
            </a:r>
            <a:r>
              <a:rPr lang="en-US" sz="1600" dirty="0"/>
              <a:t>.</a:t>
            </a:r>
            <a:endParaRPr lang="en-US" sz="1600" dirty="0"/>
          </a:p>
          <a:p>
            <a:pPr marL="742950" lvl="1" indent="-285750">
              <a:buFont typeface="Arial" panose="020B0604020202020204" pitchFamily="34" charset="0"/>
              <a:buChar char="•"/>
            </a:pPr>
            <a:endParaRPr lang="en-US" sz="1600" dirty="0"/>
          </a:p>
          <a:p>
            <a:pPr>
              <a:lnSpc>
                <a:spcPct val="150000"/>
              </a:lnSpc>
              <a:buFont typeface="Arial" panose="020B0604020202020204" pitchFamily="34" charset="0"/>
              <a:buChar char="•"/>
            </a:pPr>
            <a:r>
              <a:rPr lang="en-US" sz="1600" b="1" dirty="0"/>
              <a:t>  Mohamed Ayman &amp; Mustafa Khaled: Monitoring Specialists</a:t>
            </a:r>
            <a:endParaRPr lang="en-US" sz="1600" dirty="0"/>
          </a:p>
          <a:p>
            <a:pPr marL="742950" lvl="1" indent="-285750">
              <a:lnSpc>
                <a:spcPct val="150000"/>
              </a:lnSpc>
              <a:buFont typeface="Arial" panose="020B0604020202020204" pitchFamily="34" charset="0"/>
              <a:buChar char="•"/>
            </a:pPr>
            <a:r>
              <a:rPr lang="en-US" sz="1600" dirty="0">
                <a:solidFill>
                  <a:srgbClr val="047954"/>
                </a:solidFill>
              </a:rPr>
              <a:t>Configured </a:t>
            </a:r>
            <a:r>
              <a:rPr lang="en-US" sz="1600" b="1" dirty="0">
                <a:solidFill>
                  <a:srgbClr val="047954"/>
                </a:solidFill>
              </a:rPr>
              <a:t>Prometheus</a:t>
            </a:r>
            <a:r>
              <a:rPr lang="en-US" sz="1600" dirty="0">
                <a:solidFill>
                  <a:srgbClr val="047954"/>
                </a:solidFill>
              </a:rPr>
              <a:t> for scraping metrics and system tracking.</a:t>
            </a:r>
            <a:endParaRPr lang="en-US" sz="1600" dirty="0">
              <a:solidFill>
                <a:srgbClr val="047954"/>
              </a:solidFill>
            </a:endParaRPr>
          </a:p>
          <a:p>
            <a:pPr marL="742950" lvl="1" indent="-285750">
              <a:buFont typeface="Arial" panose="020B0604020202020204" pitchFamily="34" charset="0"/>
              <a:buChar char="•"/>
            </a:pPr>
            <a:r>
              <a:rPr lang="en-US" sz="1600" dirty="0">
                <a:solidFill>
                  <a:srgbClr val="047954"/>
                </a:solidFill>
              </a:rPr>
              <a:t>Handled data export configurations for real-time monitoring.</a:t>
            </a:r>
            <a:endParaRPr lang="en-US" sz="1600" dirty="0">
              <a:solidFill>
                <a:srgbClr val="047954"/>
              </a:solidFill>
            </a:endParaRPr>
          </a:p>
          <a:p>
            <a:pPr marL="457200" lvl="1"/>
            <a:endParaRPr lang="en-US" sz="1600" dirty="0"/>
          </a:p>
          <a:p>
            <a:pPr>
              <a:lnSpc>
                <a:spcPct val="150000"/>
              </a:lnSpc>
              <a:buFont typeface="Arial" panose="020B0604020202020204" pitchFamily="34" charset="0"/>
              <a:buChar char="•"/>
            </a:pPr>
            <a:r>
              <a:rPr lang="en-US" sz="1600" b="1" dirty="0"/>
              <a:t>  Ziad Ahmed: Visualization Engineer</a:t>
            </a:r>
            <a:endParaRPr lang="en-US" sz="1600" dirty="0"/>
          </a:p>
          <a:p>
            <a:pPr marL="742950" lvl="1" indent="-285750">
              <a:lnSpc>
                <a:spcPct val="150000"/>
              </a:lnSpc>
              <a:buFont typeface="Arial" panose="020B0604020202020204" pitchFamily="34" charset="0"/>
              <a:buChar char="•"/>
            </a:pPr>
            <a:r>
              <a:rPr lang="en-US" sz="1600" dirty="0">
                <a:solidFill>
                  <a:srgbClr val="047954"/>
                </a:solidFill>
              </a:rPr>
              <a:t>Integrated </a:t>
            </a:r>
            <a:r>
              <a:rPr lang="en-US" sz="1600" b="1" dirty="0">
                <a:solidFill>
                  <a:srgbClr val="047954"/>
                </a:solidFill>
              </a:rPr>
              <a:t>Grafana</a:t>
            </a:r>
            <a:r>
              <a:rPr lang="en-US" sz="1600" dirty="0">
                <a:solidFill>
                  <a:srgbClr val="047954"/>
                </a:solidFill>
              </a:rPr>
              <a:t> with Prometheus data source.</a:t>
            </a:r>
            <a:endParaRPr lang="en-US" sz="1600" dirty="0">
              <a:solidFill>
                <a:srgbClr val="047954"/>
              </a:solidFill>
            </a:endParaRPr>
          </a:p>
          <a:p>
            <a:pPr marL="742950" lvl="1" indent="-285750">
              <a:buFont typeface="Arial" panose="020B0604020202020204" pitchFamily="34" charset="0"/>
              <a:buChar char="•"/>
            </a:pPr>
            <a:r>
              <a:rPr lang="en-US" sz="1600" dirty="0">
                <a:solidFill>
                  <a:srgbClr val="047954"/>
                </a:solidFill>
              </a:rPr>
              <a:t>Designed </a:t>
            </a:r>
            <a:r>
              <a:rPr lang="en-US" sz="1600" b="1" dirty="0">
                <a:solidFill>
                  <a:srgbClr val="047954"/>
                </a:solidFill>
              </a:rPr>
              <a:t>Dashboards</a:t>
            </a:r>
            <a:r>
              <a:rPr lang="en-US" sz="1600" dirty="0">
                <a:solidFill>
                  <a:srgbClr val="047954"/>
                </a:solidFill>
              </a:rPr>
              <a:t> and set up alerting rules for high latency</a:t>
            </a:r>
            <a:r>
              <a:rPr lang="en-US" sz="1600" dirty="0"/>
              <a:t>.</a:t>
            </a:r>
            <a:endParaRPr lang="ar-EG" sz="1600" dirty="0"/>
          </a:p>
        </p:txBody>
      </p:sp>
      <p:sp>
        <p:nvSpPr>
          <p:cNvPr id="8" name="TextBox 7"/>
          <p:cNvSpPr txBox="1"/>
          <p:nvPr/>
        </p:nvSpPr>
        <p:spPr>
          <a:xfrm>
            <a:off x="1708842" y="6385023"/>
            <a:ext cx="6097508" cy="307777"/>
          </a:xfrm>
          <a:prstGeom prst="rect">
            <a:avLst/>
          </a:prstGeom>
          <a:noFill/>
        </p:spPr>
        <p:txBody>
          <a:bodyPr wrap="square">
            <a:spAutoFit/>
          </a:bodyPr>
          <a:lstStyle/>
          <a:p>
            <a:r>
              <a:rPr lang="en-US" dirty="0">
                <a:solidFill>
                  <a:schemeClr val="bg1"/>
                </a:solidFill>
              </a:rPr>
              <a:t>10/14/24</a:t>
            </a:r>
            <a:endParaRPr lang="ar-EG"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74" y="2766218"/>
            <a:ext cx="10515600" cy="1325563"/>
          </a:xfrm>
        </p:spPr>
        <p:txBody>
          <a:bodyPr wrap="square" anchor="ctr">
            <a:normAutofit/>
          </a:bodyPr>
          <a:lstStyle/>
          <a:p>
            <a:pPr algn="ctr"/>
            <a:r>
              <a:rPr lang="en-US" sz="6000" dirty="0">
                <a:solidFill>
                  <a:srgbClr val="047954"/>
                </a:solidFill>
              </a:rPr>
              <a:t>Thank you</a:t>
            </a:r>
            <a:endParaRPr lang="ar-EG" sz="6000" dirty="0">
              <a:solidFill>
                <a:srgbClr val="047954"/>
              </a:solidFill>
            </a:endParaRPr>
          </a:p>
        </p:txBody>
      </p:sp>
      <p:sp>
        <p:nvSpPr>
          <p:cNvPr id="4" name="Slide Number Placeholder 3"/>
          <p:cNvSpPr>
            <a:spLocks noGrp="1"/>
          </p:cNvSpPr>
          <p:nvPr>
            <p:ph type="sldNum" idx="12"/>
          </p:nvPr>
        </p:nvSpPr>
        <p:spPr>
          <a:xfrm>
            <a:off x="8610600" y="6356350"/>
            <a:ext cx="2743200" cy="365125"/>
          </a:xfrm>
        </p:spPr>
        <p:txBody>
          <a:bodyPr wrap="square" anchor="ctr">
            <a:normAutofit/>
          </a:bodyPr>
          <a:lstStyle/>
          <a:p>
            <a:pPr marL="0" lvl="0" indent="0" rtl="0">
              <a:spcBef>
                <a:spcPts val="0"/>
              </a:spcBef>
              <a:spcAft>
                <a:spcPts val="600"/>
              </a:spcAft>
              <a:buNone/>
            </a:pPr>
            <a:fld id="{00000000-1234-1234-1234-123412341234}" type="slidenum">
              <a:rPr lang="en-US" smtClean="0"/>
            </a:fld>
            <a:endParaRPr lang="en-US"/>
          </a:p>
        </p:txBody>
      </p:sp>
      <p:sp>
        <p:nvSpPr>
          <p:cNvPr id="6" name="TextBox 5"/>
          <p:cNvSpPr txBox="1"/>
          <p:nvPr/>
        </p:nvSpPr>
        <p:spPr>
          <a:xfrm>
            <a:off x="-925669" y="6385023"/>
            <a:ext cx="6097604" cy="307777"/>
          </a:xfrm>
          <a:prstGeom prst="rect">
            <a:avLst/>
          </a:prstGeom>
          <a:noFill/>
        </p:spPr>
        <p:txBody>
          <a:bodyPr wrap="square">
            <a:spAutoFit/>
          </a:bodyPr>
          <a:lstStyle/>
          <a:p>
            <a:pPr marL="0" lvl="0" indent="0" algn="ctr" rtl="0">
              <a:spcBef>
                <a:spcPts val="0"/>
              </a:spcBef>
              <a:spcAft>
                <a:spcPts val="0"/>
              </a:spcAft>
              <a:buNone/>
            </a:pPr>
            <a:r>
              <a:rPr lang="en-US" dirty="0">
                <a:solidFill>
                  <a:schemeClr val="bg1"/>
                </a:solidFill>
              </a:rPr>
              <a:t>10/14/24</a:t>
            </a:r>
            <a:endParaRPr lang="en-US"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4142</Words>
  <Application>WPS Presentation</Application>
  <PresentationFormat>Widescreen</PresentationFormat>
  <Paragraphs>274</Paragraphs>
  <Slides>11</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SimSun</vt:lpstr>
      <vt:lpstr>Wingdings</vt:lpstr>
      <vt:lpstr>Arial</vt:lpstr>
      <vt:lpstr>Calibri</vt:lpstr>
      <vt:lpstr>Prompt</vt:lpstr>
      <vt:lpstr>Arial Unicode MS</vt:lpstr>
      <vt:lpstr>Microsoft YaHei</vt:lpstr>
      <vt:lpstr>Arial Unicode MS</vt:lpstr>
      <vt:lpstr>Office Theme</vt:lpstr>
      <vt:lpstr>PowerPoint 演示文稿</vt:lpstr>
      <vt:lpstr>PowerPoint 演示文稿</vt:lpstr>
      <vt:lpstr>Each visit to the short link is recorded, and the monitoring dashboard shows basic usage statistics and system health.</vt:lpstr>
      <vt:lpstr>PowerPoint 演示文稿</vt:lpstr>
      <vt:lpstr>PowerPoint 演示文稿</vt:lpstr>
      <vt:lpstr>PowerPoint 演示文稿</vt:lpstr>
      <vt:lpstr>PowerPoint 演示文稿</vt:lpstr>
      <vt:lpstr>List of Reports &amp; Documentation :</vt:lpstr>
      <vt:lpstr>Final Products :</vt:lpstr>
      <vt:lpstr>Project Team + Roles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ErROr 404</cp:lastModifiedBy>
  <cp:revision>43</cp:revision>
  <dcterms:created xsi:type="dcterms:W3CDTF">2024-03-14T10:03:00Z</dcterms:created>
  <dcterms:modified xsi:type="dcterms:W3CDTF">2025-11-30T18:08:53Z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1ACF4942E92242909087314D54423696_12</vt:lpwstr>
  </property>
  <property fmtid="{D5CDD505-2E9C-101B-9397-08002B2CF9AE}" pid="3" name="KSOProductBuildVer">
    <vt:lpwstr>1033-12.2.0.23155</vt:lpwstr>
  </property>
</Properties>
</file>